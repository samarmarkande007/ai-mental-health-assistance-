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3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3" r:id="rId9"/>
    <p:sldId id="267" r:id="rId10"/>
    <p:sldId id="268" r:id="rId11"/>
    <p:sldId id="269" r:id="rId12"/>
    <p:sldId id="264" r:id="rId13"/>
    <p:sldId id="270" r:id="rId14"/>
    <p:sldId id="271" r:id="rId15"/>
    <p:sldId id="265" r:id="rId16"/>
    <p:sldId id="272" r:id="rId17"/>
    <p:sldId id="273" r:id="rId18"/>
    <p:sldId id="274" r:id="rId19"/>
    <p:sldId id="266" r:id="rId20"/>
    <p:sldId id="277" r:id="rId21"/>
    <p:sldId id="278" r:id="rId22"/>
    <p:sldId id="275" r:id="rId2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B7B9"/>
    <a:srgbClr val="53A388"/>
    <a:srgbClr val="00FF00"/>
    <a:srgbClr val="00CC66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883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617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9F8BE-D3B1-BBE2-B0DC-60928C923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1F3D9-384A-5FBF-ED59-FF2088E48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0F45C-6C49-9AAE-30F6-1E75F96D5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7D815-EDE3-FA41-AF02-F7E374795F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9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68200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979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54121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9874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319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3685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37845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77892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6585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69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4735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17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12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67789" y="-62586"/>
            <a:ext cx="8680267" cy="2300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AI Mental Health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Assistance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0AA2E-C7F7-9F41-4490-A238D655C568}"/>
              </a:ext>
            </a:extLst>
          </p:cNvPr>
          <p:cNvSpPr txBox="1"/>
          <p:nvPr/>
        </p:nvSpPr>
        <p:spPr>
          <a:xfrm>
            <a:off x="192838" y="2773181"/>
            <a:ext cx="5110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Members -  Rushay Gopani || Samar </a:t>
            </a:r>
            <a:r>
              <a:rPr lang="en-IN" dirty="0" err="1">
                <a:solidFill>
                  <a:schemeClr val="bg1"/>
                </a:solidFill>
              </a:rPr>
              <a:t>Markande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			     Anurag Chawla || Maya</a:t>
            </a:r>
          </a:p>
          <a:p>
            <a:r>
              <a:rPr lang="en-IN" dirty="0">
                <a:solidFill>
                  <a:schemeClr val="bg1"/>
                </a:solidFill>
              </a:rPr>
              <a:t>			     Ajay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28090"/>
                </a:solidFill>
              </a:rPr>
              <a:t>PROJECT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F5E"/>
                </a:solidFill>
              </a:rPr>
              <a:t>Three Clinical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</a:rPr>
              <a:t>The NHS Mental Health service faces three core unknowns. Our pipeline answers all three with reproducible, evidence-based data science.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69748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6974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28090"/>
                </a:solidFill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4048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F5E"/>
                </a:solidFill>
              </a:rPr>
              <a:t>WHO are our patients?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K-Means clustering segments 775 patients into 6 distinct risk profiles — enabling targeted care pathways.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69748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697480" cy="6400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3756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F5E"/>
                </a:solidFill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37560" y="24048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F5E"/>
                </a:solidFill>
              </a:rPr>
              <a:t>WHEN will demand peak?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301752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Prophet + ARIMA models forecast monthly IAPT referrals 3 months ahead with 95% confidence intervals.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691640"/>
            <a:ext cx="269748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80760" y="1691640"/>
            <a:ext cx="26974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17920" y="24048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F5E"/>
                </a:solidFill>
              </a:rPr>
              <a:t>WHERE is need going unmet?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301752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Geo-spatial IMD × IAPT access analysis identifies 7 high-deprivation ICBs with below-average access rates.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02C39A"/>
                </a:solidFill>
              </a:rPr>
              <a:t>SLIDE 03  ·  DATA SOURCES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Datasets Used Across the Pipeline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143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Datasets Used Across the Pipeline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896112"/>
            <a:ext cx="18745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94183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896112"/>
            <a:ext cx="15087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313432" y="94183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Size / Scope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896112"/>
            <a:ext cx="36118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913632" y="94183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Features Used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43800" y="896112"/>
            <a:ext cx="15087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616952" y="94183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Scripts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243584"/>
            <a:ext cx="187452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129844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B2F5E"/>
                </a:solidFill>
              </a:rPr>
              <a:t>APMS 2014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40280" y="1243584"/>
            <a:ext cx="150876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313432" y="129844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9 regional XLS chapters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0" y="1243584"/>
            <a:ext cx="361188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913632" y="1298448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CMD, PTSD, Psychosis, PD, ADHD, Bipolar, Alcohol, Drug, Suicide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43800" y="1243584"/>
            <a:ext cx="150876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616952" y="129844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W1-DS1, W1-DS2 ,W1-DS3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3464" y="2130551"/>
            <a:ext cx="1874520" cy="310896"/>
          </a:xfrm>
          <a:prstGeom prst="rect">
            <a:avLst/>
          </a:prstGeom>
          <a:solidFill>
            <a:schemeClr val="bg1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01752" y="207274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B2F5E"/>
                </a:solidFill>
              </a:rPr>
              <a:t>depression_anxiety_data.csv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17420" y="2133816"/>
            <a:ext cx="1508760" cy="304365"/>
          </a:xfrm>
          <a:prstGeom prst="rect">
            <a:avLst/>
          </a:prstGeom>
          <a:solidFill>
            <a:schemeClr val="bg1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286000" y="20913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775 patients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9624" y="2133490"/>
            <a:ext cx="3611880" cy="304365"/>
          </a:xfrm>
          <a:prstGeom prst="rect">
            <a:avLst/>
          </a:prstGeom>
          <a:solidFill>
            <a:schemeClr val="bg1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867912" y="2115854"/>
            <a:ext cx="3493008" cy="31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PHQ, GAD, BMI, Age, Gender, Epworth Sleep Score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43800" y="2126631"/>
            <a:ext cx="1508760" cy="304365"/>
          </a:xfrm>
          <a:prstGeom prst="rect">
            <a:avLst/>
          </a:prstGeom>
          <a:solidFill>
            <a:schemeClr val="bg1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594092" y="20913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W2-DS1, W2-DS2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487166"/>
            <a:ext cx="1874520" cy="310897"/>
          </a:xfrm>
          <a:prstGeom prst="rect">
            <a:avLst/>
          </a:prstGeom>
          <a:solidFill>
            <a:srgbClr val="CCEC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38328" y="239572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B2F5E"/>
                </a:solidFill>
              </a:rPr>
              <a:t>referrals_past_data.csv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40280" y="2487166"/>
            <a:ext cx="1508760" cy="310898"/>
          </a:xfrm>
          <a:prstGeom prst="rect">
            <a:avLst/>
          </a:prstGeom>
          <a:solidFill>
            <a:srgbClr val="CCEC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276856" y="241401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Monthly IAPT referrals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0" y="2493696"/>
            <a:ext cx="3611880" cy="304367"/>
          </a:xfrm>
          <a:prstGeom prst="rect">
            <a:avLst/>
          </a:prstGeom>
          <a:solidFill>
            <a:srgbClr val="CCEC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913632" y="2421854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Referrals received, time-series 2023–2025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43800" y="2493696"/>
            <a:ext cx="1508760" cy="304368"/>
          </a:xfrm>
          <a:prstGeom prst="rect">
            <a:avLst/>
          </a:prstGeom>
          <a:solidFill>
            <a:srgbClr val="CCEC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589520" y="2446673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W3-DS1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2834640"/>
            <a:ext cx="1874520" cy="493776"/>
          </a:xfrm>
          <a:prstGeom prst="rect">
            <a:avLst/>
          </a:prstGeom>
          <a:solidFill>
            <a:schemeClr val="bg1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47472" y="28895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B2F5E"/>
                </a:solidFill>
              </a:rPr>
              <a:t>mental_health_proxy_timeseries.csv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240280" y="2834640"/>
            <a:ext cx="1508760" cy="493776"/>
          </a:xfrm>
          <a:prstGeom prst="rect">
            <a:avLst/>
          </a:prstGeom>
          <a:solidFill>
            <a:schemeClr val="bg1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313432" y="2889504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CSEW 2002–2019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40480" y="2834640"/>
            <a:ext cx="3611880" cy="493776"/>
          </a:xfrm>
          <a:prstGeom prst="rect">
            <a:avLst/>
          </a:prstGeom>
          <a:solidFill>
            <a:schemeClr val="bg1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913632" y="2889504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Crime worry, safety perception — mental health proxy indicators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43800" y="2834640"/>
            <a:ext cx="1508760" cy="493776"/>
          </a:xfrm>
          <a:prstGeom prst="rect">
            <a:avLst/>
          </a:prstGeom>
          <a:solidFill>
            <a:schemeClr val="bg1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616952" y="2889504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W2-DS3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3364992"/>
            <a:ext cx="1874520" cy="493776"/>
          </a:xfrm>
          <a:prstGeom prst="rect">
            <a:avLst/>
          </a:prstGeom>
          <a:solidFill>
            <a:srgbClr val="CCEC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47472" y="3419856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B2F5E"/>
                </a:solidFill>
              </a:rPr>
              <a:t>NHS Prescribing (CCG spend)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240280" y="3364992"/>
            <a:ext cx="1508760" cy="493776"/>
          </a:xfrm>
          <a:prstGeom prst="rect">
            <a:avLst/>
          </a:prstGeom>
          <a:solidFill>
            <a:srgbClr val="CCEC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313432" y="341985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CCG-level monthly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840480" y="3364992"/>
            <a:ext cx="3611880" cy="493776"/>
          </a:xfrm>
          <a:prstGeom prst="rect">
            <a:avLst/>
          </a:prstGeom>
          <a:solidFill>
            <a:srgbClr val="CCEC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913632" y="3419856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Actual cost, items, quantity, list size — per patient ratios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543800" y="3364992"/>
            <a:ext cx="1508760" cy="493776"/>
          </a:xfrm>
          <a:prstGeom prst="rect">
            <a:avLst/>
          </a:prstGeom>
          <a:solidFill>
            <a:srgbClr val="CCEC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616952" y="341985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W3-DS2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3895344"/>
            <a:ext cx="1874520" cy="493776"/>
          </a:xfrm>
          <a:prstGeom prst="rect">
            <a:avLst/>
          </a:prstGeom>
          <a:solidFill>
            <a:schemeClr val="bg1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47472" y="395020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B2F5E"/>
                </a:solidFill>
              </a:rPr>
              <a:t>NHS Talking Therapies + IMD + ICB Shapefile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240280" y="3895344"/>
            <a:ext cx="1508760" cy="493776"/>
          </a:xfrm>
          <a:prstGeom prst="rect">
            <a:avLst/>
          </a:prstGeom>
          <a:solidFill>
            <a:schemeClr val="bg1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2313432" y="39502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42 ICBs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840480" y="3895344"/>
            <a:ext cx="3611880" cy="493776"/>
          </a:xfrm>
          <a:prstGeom prst="rect">
            <a:avLst/>
          </a:prstGeom>
          <a:solidFill>
            <a:schemeClr val="bg1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913632" y="3950208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Referrals, access rate, recovery, wait times, IMD decile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543800" y="3895344"/>
            <a:ext cx="1508760" cy="493776"/>
          </a:xfrm>
          <a:prstGeom prst="rect">
            <a:avLst/>
          </a:prstGeom>
          <a:solidFill>
            <a:schemeClr val="bg1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616952" y="39502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W3-DS3</a:t>
            </a:r>
            <a:endParaRPr lang="en-US" sz="900" dirty="0"/>
          </a:p>
        </p:txBody>
      </p:sp>
      <p:sp>
        <p:nvSpPr>
          <p:cNvPr id="6" name="Shape 22">
            <a:extLst>
              <a:ext uri="{FF2B5EF4-FFF2-40B4-BE49-F238E27FC236}">
                <a16:creationId xmlns:a16="http://schemas.microsoft.com/office/drawing/2014/main" id="{8B9C47E8-8D6F-E688-E10D-19BFC5758298}"/>
              </a:ext>
            </a:extLst>
          </p:cNvPr>
          <p:cNvSpPr/>
          <p:nvPr/>
        </p:nvSpPr>
        <p:spPr>
          <a:xfrm>
            <a:off x="283464" y="1773936"/>
            <a:ext cx="1874520" cy="310896"/>
          </a:xfrm>
          <a:prstGeom prst="rect">
            <a:avLst/>
          </a:prstGeom>
          <a:solidFill>
            <a:srgbClr val="CCEC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IN" sz="950" b="1" dirty="0">
                <a:solidFill>
                  <a:srgbClr val="002060"/>
                </a:solidFill>
              </a:rPr>
              <a:t>MHSDS</a:t>
            </a:r>
          </a:p>
          <a:p>
            <a:endParaRPr lang="en-IN" dirty="0"/>
          </a:p>
        </p:txBody>
      </p:sp>
      <p:sp>
        <p:nvSpPr>
          <p:cNvPr id="64" name="Shape 24">
            <a:extLst>
              <a:ext uri="{FF2B5EF4-FFF2-40B4-BE49-F238E27FC236}">
                <a16:creationId xmlns:a16="http://schemas.microsoft.com/office/drawing/2014/main" id="{B6303507-D208-7190-8684-F9D50CA3B1E1}"/>
              </a:ext>
            </a:extLst>
          </p:cNvPr>
          <p:cNvSpPr/>
          <p:nvPr/>
        </p:nvSpPr>
        <p:spPr>
          <a:xfrm>
            <a:off x="2226564" y="1788632"/>
            <a:ext cx="1508760" cy="304365"/>
          </a:xfrm>
          <a:prstGeom prst="rect">
            <a:avLst/>
          </a:prstGeom>
          <a:solidFill>
            <a:srgbClr val="CCEC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IN" sz="900" dirty="0">
                <a:solidFill>
                  <a:schemeClr val="accent6">
                    <a:lumMod val="50000"/>
                  </a:schemeClr>
                </a:solidFill>
              </a:rPr>
              <a:t> 771,626 patients</a:t>
            </a:r>
          </a:p>
        </p:txBody>
      </p:sp>
      <p:sp>
        <p:nvSpPr>
          <p:cNvPr id="65" name="Shape 18">
            <a:extLst>
              <a:ext uri="{FF2B5EF4-FFF2-40B4-BE49-F238E27FC236}">
                <a16:creationId xmlns:a16="http://schemas.microsoft.com/office/drawing/2014/main" id="{6568914F-87B8-D8B2-3302-B5ECF9C286ED}"/>
              </a:ext>
            </a:extLst>
          </p:cNvPr>
          <p:cNvSpPr/>
          <p:nvPr/>
        </p:nvSpPr>
        <p:spPr>
          <a:xfrm>
            <a:off x="3838194" y="1796361"/>
            <a:ext cx="3611880" cy="296636"/>
          </a:xfrm>
          <a:prstGeom prst="rect">
            <a:avLst/>
          </a:prstGeom>
          <a:solidFill>
            <a:srgbClr val="CCEC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IN" sz="1000" dirty="0">
                <a:solidFill>
                  <a:schemeClr val="accent6">
                    <a:lumMod val="50000"/>
                  </a:schemeClr>
                </a:solidFill>
              </a:rPr>
              <a:t>Primary Level, Measure Id, Measure name, Measure value, etc.</a:t>
            </a:r>
          </a:p>
        </p:txBody>
      </p:sp>
      <p:sp>
        <p:nvSpPr>
          <p:cNvPr id="66" name="Shape 20">
            <a:extLst>
              <a:ext uri="{FF2B5EF4-FFF2-40B4-BE49-F238E27FC236}">
                <a16:creationId xmlns:a16="http://schemas.microsoft.com/office/drawing/2014/main" id="{82556289-A3E9-D714-A92F-1037DCF9F981}"/>
              </a:ext>
            </a:extLst>
          </p:cNvPr>
          <p:cNvSpPr/>
          <p:nvPr/>
        </p:nvSpPr>
        <p:spPr>
          <a:xfrm>
            <a:off x="7557516" y="1800060"/>
            <a:ext cx="1508760" cy="292937"/>
          </a:xfrm>
          <a:prstGeom prst="rect">
            <a:avLst/>
          </a:prstGeom>
          <a:solidFill>
            <a:srgbClr val="CCEC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IN" sz="900" dirty="0">
                <a:solidFill>
                  <a:schemeClr val="accent6">
                    <a:lumMod val="50000"/>
                  </a:schemeClr>
                </a:solidFill>
              </a:rPr>
              <a:t>W4-DS2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571"/>
            <a:ext cx="9144000" cy="777240"/>
          </a:xfrm>
          <a:prstGeom prst="rect">
            <a:avLst/>
          </a:prstGeom>
          <a:solidFill>
            <a:srgbClr val="00206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146304" y="1143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End-to-End Data Science Workflow — Weeks 1 to 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1752" y="946409"/>
            <a:ext cx="2029968" cy="4043931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202996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90525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1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Foundations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481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028090"/>
                </a:solidFill>
              </a:rPr>
              <a:t>Scripts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1737360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20624" y="176479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DS1: Statistical Baseline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2121408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20624" y="21488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DS2: Hypothesis Testing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2505456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20624" y="253288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DS3: Distribution Analysis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6616" y="337021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028090"/>
                </a:solidFill>
              </a:rPr>
              <a:t>Key Outputs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6616" y="36700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→  APMS prevalence map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948571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→  Hypo test CSV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6616" y="42245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→  5 distribution PNGs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0" y="2926080"/>
            <a:ext cx="14630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423160" y="905255"/>
            <a:ext cx="2029968" cy="4078553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432304" y="896112"/>
            <a:ext cx="2029968" cy="50292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523744" y="90525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2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23744" y="1481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1B2F5E"/>
                </a:solidFill>
              </a:rPr>
              <a:t>Scripts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05456" y="1723644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96896" y="176479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DS1: Regression (GAD)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23744" y="2121408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96896" y="21488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DS2: Clustering (K-Means)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23744" y="2505456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596896" y="253288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DS3: Temporal </a:t>
            </a:r>
            <a:r>
              <a:rPr lang="en-US" sz="850" dirty="0">
                <a:solidFill>
                  <a:schemeClr val="accent6">
                    <a:lumMod val="75000"/>
                  </a:schemeClr>
                </a:solidFill>
              </a:rPr>
              <a:t>Detection</a:t>
            </a:r>
          </a:p>
        </p:txBody>
      </p:sp>
      <p:sp>
        <p:nvSpPr>
          <p:cNvPr id="30" name="Text 28"/>
          <p:cNvSpPr/>
          <p:nvPr/>
        </p:nvSpPr>
        <p:spPr>
          <a:xfrm>
            <a:off x="2514600" y="3374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1B2F5E"/>
                </a:solidFill>
              </a:rPr>
              <a:t>Key Outputs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05456" y="3666089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→  Regression R²=0.46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05456" y="3923429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→  6 patient segments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523744" y="422093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→  Chow test breakpoints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62272" y="2926080"/>
            <a:ext cx="14630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17720" y="914729"/>
            <a:ext cx="2029968" cy="406908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608576" y="896112"/>
            <a:ext cx="2029968" cy="502920"/>
          </a:xfrm>
          <a:prstGeom prst="rect">
            <a:avLst/>
          </a:prstGeom>
          <a:solidFill>
            <a:srgbClr val="5B6EAE"/>
          </a:solidFill>
          <a:ln w="12700">
            <a:solidFill>
              <a:srgbClr val="5B6E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00016" y="90525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3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Forecasting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00016" y="1481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5B6EAE"/>
                </a:solidFill>
              </a:rPr>
              <a:t>Scripts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0016" y="1737360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73168" y="176479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DS1: IAPT Forecasting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0016" y="2121408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73168" y="21488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DS2: Anomaly Detection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0016" y="2505456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773168" y="253288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DS3: Geo-Spatial IMD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00016" y="3384423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5B6EAE"/>
                </a:solidFill>
              </a:rPr>
              <a:t>Key Outputs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27448" y="364486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→  Prophet 3-month forecast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18304" y="3923429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→  5% CCG anomaly rate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09160" y="422093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→  7 underserved ICBs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638544" y="2926080"/>
            <a:ext cx="14630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775704" y="921260"/>
            <a:ext cx="2029968" cy="406908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784848" y="896112"/>
            <a:ext cx="2029968" cy="50292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876288" y="90525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4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Reproducibility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76288" y="1481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276749"/>
                </a:solidFill>
              </a:rPr>
              <a:t>Scripts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876288" y="1737360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949440" y="176479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DS1: Full Pipeline Run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876288" y="2121408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949440" y="21488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DS2: MHSDS Integration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876288" y="342883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276749"/>
                </a:solidFill>
              </a:rPr>
              <a:t>Key Outputs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876288" y="36700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→  All 9 scripts: pass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876288" y="3923101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→  771K MHSDS rows loaded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885432" y="422093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→  End-to-end 57s</a:t>
            </a:r>
            <a:endParaRPr lang="en-US" sz="850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FD15AE34-3057-4BF8-F1EB-F7DB9265AB1D}"/>
              </a:ext>
            </a:extLst>
          </p:cNvPr>
          <p:cNvSpPr/>
          <p:nvPr/>
        </p:nvSpPr>
        <p:spPr>
          <a:xfrm>
            <a:off x="338328" y="2907463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US" sz="850" dirty="0">
                <a:solidFill>
                  <a:srgbClr val="4A5568"/>
                </a:solidFill>
              </a:rPr>
              <a:t>DS4: </a:t>
            </a:r>
            <a:r>
              <a:rPr lang="en-IN" sz="850" dirty="0"/>
              <a:t>Data documentation</a:t>
            </a:r>
            <a:endParaRPr lang="en-US" sz="850" dirty="0"/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A750C569-32E1-4250-C378-BCFA8A234F74}"/>
              </a:ext>
            </a:extLst>
          </p:cNvPr>
          <p:cNvSpPr/>
          <p:nvPr/>
        </p:nvSpPr>
        <p:spPr>
          <a:xfrm>
            <a:off x="2514600" y="2907463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US" sz="1000" dirty="0">
                <a:solidFill>
                  <a:srgbClr val="4A5568"/>
                </a:solidFill>
              </a:rPr>
              <a:t>DS4: </a:t>
            </a:r>
            <a:r>
              <a:rPr lang="en-IN" sz="850" dirty="0">
                <a:solidFill>
                  <a:schemeClr val="accent6">
                    <a:lumMod val="50000"/>
                  </a:schemeClr>
                </a:solidFill>
              </a:rPr>
              <a:t>Model interpretability</a:t>
            </a:r>
            <a:endParaRPr lang="en-US" sz="8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3" name="Shape 41">
            <a:extLst>
              <a:ext uri="{FF2B5EF4-FFF2-40B4-BE49-F238E27FC236}">
                <a16:creationId xmlns:a16="http://schemas.microsoft.com/office/drawing/2014/main" id="{0B6BA3AC-C20C-59CA-E567-58EDCE600236}"/>
              </a:ext>
            </a:extLst>
          </p:cNvPr>
          <p:cNvSpPr/>
          <p:nvPr/>
        </p:nvSpPr>
        <p:spPr>
          <a:xfrm>
            <a:off x="4690872" y="2920448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US" sz="850" dirty="0">
                <a:solidFill>
                  <a:srgbClr val="4A5568"/>
                </a:solidFill>
              </a:rPr>
              <a:t>DS4: </a:t>
            </a:r>
            <a:r>
              <a:rPr lang="en-IN" sz="850" dirty="0">
                <a:solidFill>
                  <a:schemeClr val="accent6">
                    <a:lumMod val="50000"/>
                  </a:schemeClr>
                </a:solidFill>
              </a:rPr>
              <a:t>DS pipeline documentation</a:t>
            </a:r>
            <a:endParaRPr lang="en-US" sz="85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IN" sz="850" dirty="0"/>
          </a:p>
        </p:txBody>
      </p:sp>
      <p:sp>
        <p:nvSpPr>
          <p:cNvPr id="64" name="Shape 41">
            <a:extLst>
              <a:ext uri="{FF2B5EF4-FFF2-40B4-BE49-F238E27FC236}">
                <a16:creationId xmlns:a16="http://schemas.microsoft.com/office/drawing/2014/main" id="{DD60E48F-7D8E-E221-BBDF-CABE75647692}"/>
              </a:ext>
            </a:extLst>
          </p:cNvPr>
          <p:cNvSpPr/>
          <p:nvPr/>
        </p:nvSpPr>
        <p:spPr>
          <a:xfrm>
            <a:off x="6858000" y="2534521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US" sz="850" dirty="0">
                <a:solidFill>
                  <a:srgbClr val="4A5568"/>
                </a:solidFill>
              </a:rPr>
              <a:t>DS3: </a:t>
            </a:r>
            <a:r>
              <a:rPr lang="en-IN" sz="850" dirty="0"/>
              <a:t>NHS methodology compliance</a:t>
            </a:r>
            <a:endParaRPr lang="en-US" sz="850" dirty="0"/>
          </a:p>
        </p:txBody>
      </p:sp>
      <p:sp>
        <p:nvSpPr>
          <p:cNvPr id="65" name="Shape 41">
            <a:extLst>
              <a:ext uri="{FF2B5EF4-FFF2-40B4-BE49-F238E27FC236}">
                <a16:creationId xmlns:a16="http://schemas.microsoft.com/office/drawing/2014/main" id="{0102D920-0D0B-5C9C-A36C-4C5633B87D0C}"/>
              </a:ext>
            </a:extLst>
          </p:cNvPr>
          <p:cNvSpPr/>
          <p:nvPr/>
        </p:nvSpPr>
        <p:spPr>
          <a:xfrm>
            <a:off x="6885432" y="2918569"/>
            <a:ext cx="1847088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  <p:txBody>
          <a:bodyPr/>
          <a:lstStyle/>
          <a:p>
            <a:r>
              <a:rPr lang="en-US" sz="850" dirty="0">
                <a:solidFill>
                  <a:srgbClr val="4A5568"/>
                </a:solidFill>
              </a:rPr>
              <a:t>DS4: </a:t>
            </a:r>
            <a:r>
              <a:rPr lang="en-IN" sz="850" dirty="0"/>
              <a:t>Demo</a:t>
            </a:r>
            <a:endParaRPr lang="en-US" sz="850" dirty="0"/>
          </a:p>
          <a:p>
            <a:endParaRPr lang="en-IN" sz="850" dirty="0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016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137160" y="166271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400" dirty="0">
                <a:solidFill>
                  <a:schemeClr val="bg1">
                    <a:lumMod val="85000"/>
                  </a:schemeClr>
                </a:solidFill>
              </a:rPr>
              <a:t>Statistical Baseline Model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</p:txBody>
      </p:sp>
      <p:sp>
        <p:nvSpPr>
          <p:cNvPr id="5" name="Shape 3"/>
          <p:cNvSpPr/>
          <p:nvPr/>
        </p:nvSpPr>
        <p:spPr>
          <a:xfrm>
            <a:off x="0" y="790299"/>
            <a:ext cx="2377440" cy="436168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46239" y="2283085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200" dirty="0">
                <a:solidFill>
                  <a:srgbClr val="02C39A"/>
                </a:solidFill>
              </a:rPr>
              <a:t>Dataset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37160" y="2505981"/>
            <a:ext cx="16132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APMS 2014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" y="2788083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C39A"/>
                </a:solidFill>
              </a:rPr>
              <a:t>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239" y="3025003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4D8"/>
                </a:solidFill>
              </a:rPr>
              <a:t>Disorders analysed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" y="327959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C39A"/>
                </a:solidFill>
              </a:rPr>
              <a:t>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239" y="347249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4D8"/>
                </a:solidFill>
              </a:rPr>
              <a:t>Place in UK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" y="372755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C39A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" y="38954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4D8"/>
                </a:solidFill>
              </a:rPr>
              <a:t>Sex groups (Male ,Female and All)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" y="413140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C39A"/>
                </a:solidFill>
              </a:rPr>
              <a:t>Wilson CI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" y="4402219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4D8"/>
                </a:solidFill>
              </a:rPr>
              <a:t>Confidence method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" y="460596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C39A"/>
                </a:solidFill>
              </a:rPr>
              <a:t>Z-score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" y="484697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4D8"/>
                </a:solidFill>
              </a:rPr>
              <a:t>Composite burden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" y="1264658"/>
            <a:ext cx="2377440" cy="89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Top burden: London · East Of England</a:t>
            </a:r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CD34D"/>
                </a:solidFill>
              </a:rPr>
              <a:t>Avg : West Midlands ·  Yorkshire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FF00"/>
                </a:solidFill>
              </a:rPr>
              <a:t>Lowest burden: </a:t>
            </a:r>
            <a:r>
              <a:rPr lang="en-US" sz="1050" dirty="0" err="1">
                <a:solidFill>
                  <a:srgbClr val="00FF00"/>
                </a:solidFill>
              </a:rPr>
              <a:t>SouthWest</a:t>
            </a:r>
            <a:r>
              <a:rPr lang="en-US" sz="1050" dirty="0">
                <a:solidFill>
                  <a:srgbClr val="00FF00"/>
                </a:solidFill>
              </a:rPr>
              <a:t> · </a:t>
            </a:r>
            <a:r>
              <a:rPr lang="en-US" sz="1050" dirty="0" err="1">
                <a:solidFill>
                  <a:srgbClr val="00FF00"/>
                </a:solidFill>
              </a:rPr>
              <a:t>SouthEast</a:t>
            </a:r>
            <a:endParaRPr lang="en-US" sz="1050" dirty="0">
              <a:solidFill>
                <a:srgbClr val="00FF00"/>
              </a:solidFill>
            </a:endParaRPr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77440" y="783770"/>
            <a:ext cx="6779576" cy="4361687"/>
          </a:xfrm>
          <a:prstGeom prst="rect">
            <a:avLst/>
          </a:prstGeom>
        </p:spPr>
      </p:pic>
      <p:sp>
        <p:nvSpPr>
          <p:cNvPr id="23" name="Text 4">
            <a:extLst>
              <a:ext uri="{FF2B5EF4-FFF2-40B4-BE49-F238E27FC236}">
                <a16:creationId xmlns:a16="http://schemas.microsoft.com/office/drawing/2014/main" id="{443796D7-3507-A0B3-7D42-0003C473CC7F}"/>
              </a:ext>
            </a:extLst>
          </p:cNvPr>
          <p:cNvSpPr/>
          <p:nvPr/>
        </p:nvSpPr>
        <p:spPr>
          <a:xfrm>
            <a:off x="137160" y="825008"/>
            <a:ext cx="2377440" cy="525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00" dirty="0">
                <a:solidFill>
                  <a:srgbClr val="02C39A"/>
                </a:solidFill>
              </a:rPr>
              <a:t>Output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4303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400" dirty="0">
                <a:solidFill>
                  <a:schemeClr val="bg1"/>
                </a:solidFill>
              </a:rPr>
              <a:t>Hypothesis Testing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568"/>
                </a:solidFill>
              </a:rPr>
              <a:t>Three null hypotheses tested on APMS 2014 CMD data (7 age groups, 9 regions):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64008" cy="10972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132320" y="137160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FEE2E2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132320" y="13990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REJECT H₀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30759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F5E"/>
                </a:solidFill>
              </a:rPr>
              <a:t>H₀: No association between gender and CMD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160020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Chi-square  ·  χ²= 69.28  ·  p &lt; 0.001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8562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→  Women are significantly more likely to have CMD than men at every age group.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8503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64008" cy="10972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132320" y="260604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FEE2E2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32320" y="26334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REJECT H₀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54203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F5E"/>
                </a:solidFill>
              </a:rPr>
              <a:t>H₀: No association between age group and CMD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283464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Chi-square  ·  χ²= 100.54  ·  p &lt; 0.001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0906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→  CMD prevalence varies significantly by age — peak at 25–34 for women, 25–34 for men.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8503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64008" cy="10972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Shape 20"/>
          <p:cNvSpPr/>
          <p:nvPr/>
        </p:nvSpPr>
        <p:spPr>
          <a:xfrm>
            <a:off x="7132320" y="384048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FEE2E2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132320" y="38679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REJECT H₀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7764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F5E"/>
                </a:solidFill>
              </a:rPr>
              <a:t>H₀: Male and female CMD rates are equal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06908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Independent t-test  ·  t = −2.81  ·  p = 0.016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3251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→  Female CMD rates are 8–10 percentage points higher than male rates across all age bands.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ABBB6-C153-9DFE-B0A2-F21D05EDB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63BA54-7FF9-94A2-2C19-9FBF2D14751E}"/>
              </a:ext>
            </a:extLst>
          </p:cNvPr>
          <p:cNvSpPr/>
          <p:nvPr/>
        </p:nvSpPr>
        <p:spPr>
          <a:xfrm>
            <a:off x="13016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04D021-8F90-7B72-DA62-2C2B38E4D2D8}"/>
              </a:ext>
            </a:extLst>
          </p:cNvPr>
          <p:cNvSpPr/>
          <p:nvPr/>
        </p:nvSpPr>
        <p:spPr>
          <a:xfrm>
            <a:off x="137160" y="1363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400" dirty="0">
                <a:solidFill>
                  <a:schemeClr val="bg1"/>
                </a:solidFill>
              </a:rPr>
              <a:t>Distribution Analysis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72138D8-3AB5-0D90-883C-7AFF53EC8343}"/>
              </a:ext>
            </a:extLst>
          </p:cNvPr>
          <p:cNvSpPr/>
          <p:nvPr/>
        </p:nvSpPr>
        <p:spPr>
          <a:xfrm>
            <a:off x="0" y="744398"/>
            <a:ext cx="2377440" cy="4399101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4D9B452-22F2-BD9A-8AA3-979A6BA6C671}"/>
              </a:ext>
            </a:extLst>
          </p:cNvPr>
          <p:cNvSpPr/>
          <p:nvPr/>
        </p:nvSpPr>
        <p:spPr>
          <a:xfrm>
            <a:off x="137160" y="1264658"/>
            <a:ext cx="2377440" cy="89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endParaRPr lang="en-US" sz="1050" dirty="0">
              <a:solidFill>
                <a:srgbClr val="00FF00"/>
              </a:solidFill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080CA671-A3C9-F9C4-DF6D-4489EE28CCE8}"/>
              </a:ext>
            </a:extLst>
          </p:cNvPr>
          <p:cNvSpPr/>
          <p:nvPr/>
        </p:nvSpPr>
        <p:spPr>
          <a:xfrm>
            <a:off x="137160" y="825008"/>
            <a:ext cx="2377440" cy="525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00" dirty="0">
                <a:solidFill>
                  <a:srgbClr val="02C39A"/>
                </a:solidFill>
              </a:rPr>
              <a:t>Output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D0FE2FB-6AA1-21CA-169E-7C66B13E0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948" y="733383"/>
            <a:ext cx="6766560" cy="218871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58D3F34-529F-7FFD-A973-976F75F3E2C2}"/>
              </a:ext>
            </a:extLst>
          </p:cNvPr>
          <p:cNvSpPr txBox="1"/>
          <p:nvPr/>
        </p:nvSpPr>
        <p:spPr>
          <a:xfrm>
            <a:off x="0" y="1243934"/>
            <a:ext cx="23774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IN" sz="900" dirty="0">
                <a:solidFill>
                  <a:schemeClr val="bg1">
                    <a:lumMod val="65000"/>
                  </a:schemeClr>
                </a:solidFill>
              </a:rPr>
              <a:t>DISTRIBUTION SHAPE </a:t>
            </a:r>
          </a:p>
          <a:p>
            <a:r>
              <a:rPr lang="en-IN" sz="900" dirty="0">
                <a:solidFill>
                  <a:schemeClr val="bg1">
                    <a:lumMod val="65000"/>
                  </a:schemeClr>
                </a:solidFill>
              </a:rPr>
              <a:t>	CIS-R is strongly right-skewed. 	Log-Normal fits better than Normal. </a:t>
            </a:r>
          </a:p>
          <a:p>
            <a:endParaRPr lang="en-IN" sz="9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IN" sz="900" dirty="0">
                <a:solidFill>
                  <a:schemeClr val="bg1">
                    <a:lumMod val="85000"/>
                  </a:schemeClr>
                </a:solidFill>
              </a:rPr>
              <a:t>2. SEX DIFFERENCES </a:t>
            </a:r>
          </a:p>
          <a:p>
            <a:endParaRPr lang="en-IN" sz="9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sz="900" dirty="0">
                <a:solidFill>
                  <a:schemeClr val="bg1">
                    <a:lumMod val="85000"/>
                  </a:schemeClr>
                </a:solidFill>
              </a:rPr>
              <a:t>	Men CIS-R ≥12: 12.2% </a:t>
            </a:r>
          </a:p>
          <a:p>
            <a:r>
              <a:rPr lang="en-IN" sz="900" dirty="0">
                <a:solidFill>
                  <a:schemeClr val="bg1">
                    <a:lumMod val="85000"/>
                  </a:schemeClr>
                </a:solidFill>
              </a:rPr>
              <a:t>	Women CIS-R ≥12: 19.1% </a:t>
            </a:r>
          </a:p>
          <a:p>
            <a:endParaRPr lang="en-IN" sz="9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IN" sz="900" dirty="0">
                <a:solidFill>
                  <a:schemeClr val="bg1">
                    <a:lumMod val="65000"/>
                  </a:schemeClr>
                </a:solidFill>
              </a:rPr>
              <a:t>3. AGE PATTERN </a:t>
            </a:r>
          </a:p>
          <a:p>
            <a:r>
              <a:rPr lang="en-IN" sz="900" dirty="0">
                <a:solidFill>
                  <a:schemeClr val="bg1">
                    <a:lumMod val="65000"/>
                  </a:schemeClr>
                </a:solidFill>
              </a:rPr>
              <a:t>	Age 16–24: 17.3% score CIS-R ≥12 	Age 45–54: 18.0% score CIS-R ≥12 	Age 75+: 8.0% score CIS-R ≥12 </a:t>
            </a:r>
          </a:p>
          <a:p>
            <a:endParaRPr lang="en-IN" sz="9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IN" sz="900" dirty="0">
                <a:solidFill>
                  <a:schemeClr val="bg1">
                    <a:lumMod val="85000"/>
                  </a:schemeClr>
                </a:solidFill>
              </a:rPr>
              <a:t>4. HIGHEST RISK SEGMENTS (Any CMD) 	Smokes 15+/day : 33.2% </a:t>
            </a:r>
          </a:p>
          <a:p>
            <a:r>
              <a:rPr lang="en-IN" sz="900" dirty="0">
                <a:solidFill>
                  <a:schemeClr val="bg1">
                    <a:lumMod val="85000"/>
                  </a:schemeClr>
                </a:solidFill>
              </a:rPr>
              <a:t>	Econ. Inactive : 30.3% </a:t>
            </a:r>
          </a:p>
          <a:p>
            <a:r>
              <a:rPr lang="en-IN" sz="900" dirty="0">
                <a:solidFill>
                  <a:schemeClr val="bg1">
                    <a:lumMod val="85000"/>
                  </a:schemeClr>
                </a:solidFill>
              </a:rPr>
              <a:t>	Unemployed : 25.2% </a:t>
            </a:r>
          </a:p>
          <a:p>
            <a:r>
              <a:rPr lang="en-IN" sz="900" dirty="0">
                <a:solidFill>
                  <a:schemeClr val="bg1">
                    <a:lumMod val="85000"/>
                  </a:schemeClr>
                </a:solidFill>
              </a:rPr>
              <a:t>	Black/Black Br. : 24.0% </a:t>
            </a:r>
          </a:p>
          <a:p>
            <a:r>
              <a:rPr lang="en-IN" sz="900" dirty="0">
                <a:solidFill>
                  <a:schemeClr val="bg1">
                    <a:lumMod val="85000"/>
                  </a:schemeClr>
                </a:solidFill>
              </a:rPr>
              <a:t>	Women : 19.1 . </a:t>
            </a:r>
          </a:p>
          <a:p>
            <a:endParaRPr lang="en-IN" sz="9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IN" sz="900" dirty="0">
                <a:solidFill>
                  <a:schemeClr val="bg1">
                    <a:lumMod val="65000"/>
                  </a:schemeClr>
                </a:solidFill>
              </a:rPr>
              <a:t>6. TEMPORAL TREND </a:t>
            </a:r>
          </a:p>
          <a:p>
            <a:pPr algn="ctr"/>
            <a:r>
              <a:rPr lang="en-IN" sz="900" dirty="0">
                <a:solidFill>
                  <a:schemeClr val="bg1">
                    <a:lumMod val="65000"/>
                  </a:schemeClr>
                </a:solidFill>
              </a:rPr>
              <a:t>       Women: 17.7% (1993) → 21.4%[+3.7 pp] Men: 10.5% (1993) → 13.6%[+3.1 pp] </a:t>
            </a:r>
          </a:p>
          <a:p>
            <a:r>
              <a:rPr lang="en-IN" sz="900" dirty="0">
                <a:solidFill>
                  <a:schemeClr val="bg1">
                    <a:lumMod val="65000"/>
                  </a:schemeClr>
                </a:solidFill>
              </a:rPr>
              <a:t>       Sex gap has widened over 20 years.</a:t>
            </a:r>
            <a:endParaRPr 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F6BBDFE-E9D2-C25A-A0C1-4A3EB0778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3950" y="3122023"/>
            <a:ext cx="3337582" cy="202147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307AEE0-34B5-1997-1A53-7B823A904D06}"/>
              </a:ext>
            </a:extLst>
          </p:cNvPr>
          <p:cNvSpPr txBox="1"/>
          <p:nvPr/>
        </p:nvSpPr>
        <p:spPr>
          <a:xfrm>
            <a:off x="2383950" y="2870595"/>
            <a:ext cx="3899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 b="1" dirty="0"/>
              <a:t>QQ Plot – CIS-R Score Distribution vs Theoretical Distribution </a:t>
            </a:r>
          </a:p>
          <a:p>
            <a:pPr algn="ctr"/>
            <a:endParaRPr lang="en-IN" sz="1100" b="1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C98C58E-C5F0-2250-13B9-FAE1205A24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1532" y="3122022"/>
            <a:ext cx="3415958" cy="202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9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01168" y="1417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Predicting GAD Score — Linear Regression (PHQ, BMI, Age, Sleep, Gender)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0116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978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8090"/>
                </a:solidFill>
              </a:rPr>
              <a:t>0.458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R² Score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(test set)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Variance explained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86868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68880" y="868680"/>
            <a:ext cx="2011680" cy="6400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78608" y="978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F5E"/>
                </a:solidFill>
              </a:rPr>
              <a:t>0.419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78608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Adjusted R²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(11 features)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8608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Penalised for complexity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868680"/>
            <a:ext cx="2011680" cy="640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73168" y="978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B46C1"/>
                </a:solidFill>
              </a:rPr>
              <a:t>9.45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73168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MSE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(mean sq error)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GAD score units²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0" y="86868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58000" y="868680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67728" y="978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392B"/>
                </a:solidFill>
              </a:rPr>
              <a:t>PHQ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67728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Top Predictor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Coeff = +2.93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67728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PHQ score drives GAD</a:t>
            </a:r>
            <a:endParaRPr lang="en-US" sz="8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2395728"/>
            <a:ext cx="8595360" cy="2606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30490" y="121485"/>
            <a:ext cx="83079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K-Means on PHQ · GAD · BMI · Age · Epworth Sleep Score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31" y="781812"/>
            <a:ext cx="2651760" cy="436168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7160" y="914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6 Patient Segments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1188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0C4D8"/>
                </a:solidFill>
              </a:rPr>
              <a:t>Silhouette validated · k=6 optimal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8016" y="1618488"/>
            <a:ext cx="128016" cy="2743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01752" y="1532925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C0 - Low-Risk Male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1752" y="17765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C7D8"/>
                </a:solidFill>
              </a:rPr>
              <a:t>n=259  ·  Mild / Mild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37160" y="3905135"/>
            <a:ext cx="128016" cy="274320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1752" y="2024089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</a:rPr>
              <a:t>C1 - Obesity-Mild Distress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9414" y="4033483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C7D8"/>
                </a:solidFill>
              </a:rPr>
              <a:t>n=186  ·  Mild / Mild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31936" y="3041347"/>
            <a:ext cx="128016" cy="2743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43460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9635" y="27223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C7D8"/>
                </a:solidFill>
              </a:rPr>
              <a:t>n=167  ·  Mod / Mod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26711" y="2596896"/>
            <a:ext cx="128016" cy="2743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320040" y="251590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</a:rPr>
              <a:t>C2 - Moderate </a:t>
            </a:r>
            <a:r>
              <a:rPr lang="en-US" sz="950" b="1" dirty="0" err="1">
                <a:solidFill>
                  <a:srgbClr val="FFFFFF"/>
                </a:solidFill>
              </a:rPr>
              <a:t>Mixed+Sleep</a:t>
            </a:r>
            <a:r>
              <a:rPr lang="en-US" sz="950" b="1" dirty="0">
                <a:solidFill>
                  <a:srgbClr val="FFFFFF"/>
                </a:solidFill>
              </a:rPr>
              <a:t>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0490" y="318341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C7D8"/>
                </a:solidFill>
              </a:rPr>
              <a:t>n=61  ·  Mild / Mild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24097" y="2107692"/>
            <a:ext cx="128016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0490" y="297375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C3 – Older Adult – Mild Distress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9414" y="224811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C7D8"/>
                </a:solidFill>
              </a:rPr>
              <a:t>n=56  ·  Mild / Mild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4547" y="3489415"/>
            <a:ext cx="128016" cy="2743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380585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</a:rPr>
              <a:t>C5 - Low-Risk Female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9635" y="360012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C7D8"/>
                </a:solidFill>
              </a:rPr>
              <a:t>n=46  ·  Severe / Severe</a:t>
            </a:r>
            <a:endParaRPr lang="en-US" sz="8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1F2E08-BF3D-C159-A018-CC1DB78D4DAC}"/>
              </a:ext>
            </a:extLst>
          </p:cNvPr>
          <p:cNvSpPr txBox="1"/>
          <p:nvPr/>
        </p:nvSpPr>
        <p:spPr>
          <a:xfrm>
            <a:off x="252113" y="3424428"/>
            <a:ext cx="19042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b="1" dirty="0">
                <a:solidFill>
                  <a:srgbClr val="FFFFFF"/>
                </a:solidFill>
              </a:rPr>
              <a:t>C4 - High-Risk Severe ⚠</a:t>
            </a:r>
            <a:endParaRPr lang="en-IN" sz="9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ED23E10-5B36-FF44-7888-F9E9CD752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822" y="777240"/>
            <a:ext cx="6479178" cy="437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CDD2"/>
                </a:solidFill>
              </a:rPr>
              <a:t> RESULT 1  </a:t>
            </a:r>
          </a:p>
          <a:p>
            <a:pPr marL="0" indent="0" algn="l">
              <a:buNone/>
            </a:pPr>
            <a:r>
              <a:rPr lang="en-US" sz="800" b="1" kern="0" spc="300" dirty="0">
                <a:solidFill>
                  <a:srgbClr val="FFCDD2"/>
                </a:solidFill>
              </a:rPr>
              <a:t>	CLUSTER DEEP DIVE :- HIGH-RISK SEVERE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Cluster 4 - High-Risk Severe (n=46) - Immediate Clinical Priority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29768" y="10424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392B"/>
                </a:solidFill>
              </a:rPr>
              <a:t>17.2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9768" y="1527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PHQ Score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(Depression)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892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Severe threshold ≥15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932688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46120" y="932688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55848" y="10424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392B"/>
                </a:solidFill>
              </a:rPr>
              <a:t>16.2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55848" y="1527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GAD Score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(Anxiety)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55848" y="1892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Severe threshold ≥15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932688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72200" y="932688"/>
            <a:ext cx="2743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81928" y="10424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97706"/>
                </a:solidFill>
              </a:rPr>
              <a:t>13.1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81928" y="1527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Epworth Score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(Sleepiness)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81928" y="1892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Pathological ≥11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350008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2350008"/>
            <a:ext cx="2743200" cy="640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9768" y="24597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A5568"/>
                </a:solidFill>
              </a:rPr>
              <a:t>24.5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29768" y="29443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BMI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(Normal weight)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" y="331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Not weight-driven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46120" y="2350008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46120" y="2350008"/>
            <a:ext cx="2743200" cy="640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55848" y="24597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B46C1"/>
                </a:solidFill>
              </a:rPr>
              <a:t>20.1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355848" y="29443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Average Age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(years)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55848" y="331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Young adult cohort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72200" y="2350008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172200" y="2350008"/>
            <a:ext cx="2743200" cy="6400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81928" y="24597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F5E"/>
                </a:solidFill>
              </a:rPr>
              <a:t>46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281928" y="29443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Patients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(smallest cluster)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81928" y="331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6% of total cohort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840480"/>
            <a:ext cx="8503920" cy="841248"/>
          </a:xfrm>
          <a:prstGeom prst="rect">
            <a:avLst/>
          </a:prstGeom>
          <a:solidFill>
            <a:srgbClr val="FEE2E2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02920" y="3913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</a:rPr>
              <a:t>CLINICAL PRIORITY ACTION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41605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7F1D1D"/>
                </a:solidFill>
              </a:rPr>
              <a:t>These 46 patients score in the Severe range on both PHQ and GAD simultaneously and report pathological sleepiness. They require immediate escalation to a Step 3/4 pathway — fast-track referral for combined CBT + sleep clinic assessment. 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59" y="45720"/>
            <a:ext cx="64987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02C39A"/>
                </a:solidFill>
              </a:rPr>
              <a:t>RESULT 1</a:t>
            </a:r>
          </a:p>
          <a:p>
            <a:pPr marL="0" indent="0" algn="l">
              <a:buNone/>
            </a:pPr>
            <a:r>
              <a:rPr lang="en-US" sz="800" b="1" kern="0" spc="400" dirty="0">
                <a:solidFill>
                  <a:srgbClr val="02C39A"/>
                </a:solidFill>
              </a:rPr>
              <a:t>	  CLUSTER DEEP DIVE -SECONDARY PRIORITIES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Clusters 1 &amp; 2 - Obesity-Distress &amp; Moderate Mixed+Sleep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F5E"/>
                </a:solidFill>
              </a:rPr>
              <a:t>Cluster 1 - Obesity-Mild Distress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n = 56  | 6% of cohort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3840480" cy="347472"/>
          </a:xfrm>
          <a:prstGeom prst="rect">
            <a:avLst/>
          </a:prstGeom>
          <a:solidFill>
            <a:srgbClr val="F7FAFE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746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PHQ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7465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</a:rPr>
              <a:t>8.75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1746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Mild range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112264"/>
            <a:ext cx="3840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167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GAD Score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1671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</a:rPr>
              <a:t>7.30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2167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Mild range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532888"/>
            <a:ext cx="3840480" cy="347472"/>
          </a:xfrm>
          <a:prstGeom prst="rect">
            <a:avLst/>
          </a:prstGeom>
          <a:solidFill>
            <a:srgbClr val="F7FAFE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2587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BMI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2587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</a:rPr>
              <a:t>31.3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80360" y="2587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Obese Class 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953512"/>
            <a:ext cx="3840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0083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0083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</a:rPr>
              <a:t>19.9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80360" y="3008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Young adult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374136"/>
            <a:ext cx="3840480" cy="347472"/>
          </a:xfrm>
          <a:prstGeom prst="rect">
            <a:avLst/>
          </a:prstGeom>
          <a:solidFill>
            <a:srgbClr val="F7FAFE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" y="3429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Epworth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03120" y="3429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</a:rPr>
              <a:t>5.6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80360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Normal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794760"/>
            <a:ext cx="3840480" cy="548640"/>
          </a:xfrm>
          <a:prstGeom prst="rect">
            <a:avLst/>
          </a:prstGeom>
          <a:solidFill>
            <a:srgbClr val="E8F4F8"/>
          </a:solidFill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1B2F5E"/>
                </a:solidFill>
              </a:rPr>
              <a:t>Pathway: Integrated mental-physical health clinic - combined weight management + low-intensity CBT (Step 2 IAPT)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914400"/>
            <a:ext cx="411480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914400"/>
            <a:ext cx="4114800" cy="7315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9204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F5E"/>
                </a:solidFill>
              </a:rPr>
              <a:t>Cluster 2 - Moderate Mixed + Sleep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1353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n = 167  |  22% of cohort - largest priority group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1691640"/>
            <a:ext cx="3840480" cy="347472"/>
          </a:xfrm>
          <a:prstGeom prst="rect">
            <a:avLst/>
          </a:prstGeom>
          <a:solidFill>
            <a:srgbClr val="F7F4FE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83480" y="1746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PHQ Score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17465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46C1"/>
                </a:solidFill>
              </a:rPr>
              <a:t>10.1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60920" y="1746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Moderate range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2112264"/>
            <a:ext cx="3840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983480" y="2167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GAD Score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83680" y="21671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46C1"/>
                </a:solidFill>
              </a:rPr>
              <a:t>11.0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60920" y="2167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Moderate range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92040" y="2532888"/>
            <a:ext cx="3840480" cy="347472"/>
          </a:xfrm>
          <a:prstGeom prst="rect">
            <a:avLst/>
          </a:prstGeom>
          <a:solidFill>
            <a:srgbClr val="F7F4FE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983480" y="2587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BMI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0" y="2587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46C1"/>
                </a:solidFill>
              </a:rPr>
              <a:t>22.2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60920" y="2587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Normal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92040" y="2953512"/>
            <a:ext cx="3840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983480" y="30083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Age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83680" y="30083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46C1"/>
                </a:solidFill>
              </a:rPr>
              <a:t>19.7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60920" y="3008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Young adult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92040" y="3374136"/>
            <a:ext cx="3840480" cy="347472"/>
          </a:xfrm>
          <a:prstGeom prst="rect">
            <a:avLst/>
          </a:prstGeom>
          <a:solidFill>
            <a:srgbClr val="F7F4FE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83480" y="3429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Epworth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83680" y="3429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46C1"/>
                </a:solidFill>
              </a:rPr>
              <a:t>8.6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360920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Borderline high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92040" y="3794760"/>
            <a:ext cx="3840480" cy="548640"/>
          </a:xfrm>
          <a:prstGeom prst="rect">
            <a:avLst/>
          </a:prstGeom>
          <a:solidFill>
            <a:srgbClr val="F5F0FF"/>
          </a:solidFill>
          <a:ln w="1016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98348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50" dirty="0">
                <a:solidFill>
                  <a:srgbClr val="1B2F5E"/>
                </a:solidFill>
              </a:rPr>
              <a:t>Pathway: Step 2 IAPT(</a:t>
            </a:r>
            <a:r>
              <a:rPr lang="en-IN" sz="1000" dirty="0"/>
              <a:t>NHS Talking Therapies</a:t>
            </a:r>
            <a:r>
              <a:rPr lang="en-US" sz="950" dirty="0">
                <a:solidFill>
                  <a:srgbClr val="1B2F5E"/>
                </a:solidFill>
              </a:rPr>
              <a:t>) with sleep hygiene component — group CBT referral + Epworth monitoring every 6 weeks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3">
            <a:extLst>
              <a:ext uri="{FF2B5EF4-FFF2-40B4-BE49-F238E27FC236}">
                <a16:creationId xmlns:a16="http://schemas.microsoft.com/office/drawing/2014/main" id="{6B148F41-4BB3-7095-6701-6509E7F79D51}"/>
              </a:ext>
            </a:extLst>
          </p:cNvPr>
          <p:cNvSpPr/>
          <p:nvPr/>
        </p:nvSpPr>
        <p:spPr>
          <a:xfrm>
            <a:off x="7620" y="777240"/>
            <a:ext cx="2651760" cy="4361688"/>
          </a:xfrm>
          <a:prstGeom prst="rect">
            <a:avLst/>
          </a:prstGeom>
          <a:solidFill>
            <a:srgbClr val="5BB7B9"/>
          </a:solidFill>
          <a:ln w="12700">
            <a:solidFill>
              <a:srgbClr val="5BB7B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CSEW Proxy Timeseries — Crime Worry &amp; Safety Perception 2002–2019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51760" y="2488170"/>
            <a:ext cx="6492240" cy="26507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2420" y="187403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chemeClr val="bg1"/>
                </a:solidFill>
              </a:rPr>
              <a:t>Car crime worry - Break: 2012   </a:t>
            </a:r>
          </a:p>
        </p:txBody>
      </p:sp>
      <p:sp>
        <p:nvSpPr>
          <p:cNvPr id="9" name="Text 5"/>
          <p:cNvSpPr/>
          <p:nvPr/>
        </p:nvSpPr>
        <p:spPr>
          <a:xfrm>
            <a:off x="53340" y="14165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C000"/>
                </a:solidFill>
              </a:rPr>
              <a:t>✔ </a:t>
            </a:r>
            <a:r>
              <a:rPr lang="en-US" sz="1200" b="1" dirty="0">
                <a:solidFill>
                  <a:schemeClr val="bg1"/>
                </a:solidFill>
              </a:rPr>
              <a:t>Significant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312420" y="1734641"/>
            <a:ext cx="2453640" cy="11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Violent crime worry- Break: 2005 / 2013  </a:t>
            </a:r>
          </a:p>
        </p:txBody>
      </p:sp>
      <p:sp>
        <p:nvSpPr>
          <p:cNvPr id="12" name="Text 8"/>
          <p:cNvSpPr/>
          <p:nvPr/>
        </p:nvSpPr>
        <p:spPr>
          <a:xfrm>
            <a:off x="312420" y="20713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chemeClr val="bg1"/>
                </a:solidFill>
              </a:rPr>
              <a:t>Female feel safe  -  Break: 2012    </a:t>
            </a:r>
          </a:p>
        </p:txBody>
      </p:sp>
      <p:sp>
        <p:nvSpPr>
          <p:cNvPr id="14" name="Text 10"/>
          <p:cNvSpPr/>
          <p:nvPr/>
        </p:nvSpPr>
        <p:spPr>
          <a:xfrm>
            <a:off x="312420" y="28947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chemeClr val="bg1"/>
                </a:solidFill>
              </a:rPr>
              <a:t>Burglary worry - Break: 2011    </a:t>
            </a:r>
          </a:p>
        </p:txBody>
      </p:sp>
      <p:sp>
        <p:nvSpPr>
          <p:cNvPr id="15" name="Text 11"/>
          <p:cNvSpPr/>
          <p:nvPr/>
        </p:nvSpPr>
        <p:spPr>
          <a:xfrm>
            <a:off x="110490" y="25194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</a:rPr>
              <a:t>✘</a:t>
            </a:r>
            <a:r>
              <a:rPr lang="en-US" sz="1200" b="1" dirty="0">
                <a:solidFill>
                  <a:schemeClr val="bg1"/>
                </a:solidFill>
              </a:rPr>
              <a:t> Not significant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312420" y="31233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chemeClr val="bg1"/>
                </a:solidFill>
              </a:rPr>
              <a:t>Male feel safe - Break: 2009  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0A7CAA-9F96-578C-7B28-8D93AF34FF3B}"/>
              </a:ext>
            </a:extLst>
          </p:cNvPr>
          <p:cNvSpPr txBox="1"/>
          <p:nvPr/>
        </p:nvSpPr>
        <p:spPr>
          <a:xfrm>
            <a:off x="0" y="954357"/>
            <a:ext cx="249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Results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0705C5E-2ADF-A131-C7D7-7E52CA205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980" y="777240"/>
            <a:ext cx="2827020" cy="170178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37A8F03-B6EF-B887-325C-103CFCCF7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785902"/>
            <a:ext cx="3665220" cy="1693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01168" y="11887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Prophet vs ARIMA(2,1,2) -  Test-Set Accuracy on 6-Month Hold-Out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0116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950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8090"/>
                </a:solidFill>
              </a:rPr>
              <a:t>5,679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1435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Prophet MAE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(referrals/month)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801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Lower = better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841248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68880" y="841248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78608" y="950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392B"/>
                </a:solidFill>
              </a:rPr>
              <a:t>13,512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78608" y="1435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ARIMA MAE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(referrals/month)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8608" y="1801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57% worse than Prophet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841248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841248"/>
            <a:ext cx="20116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73168" y="950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8090"/>
                </a:solidFill>
              </a:rPr>
              <a:t>6,869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73168" y="1435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Prophet RMSE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(referrals/month)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1801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Penalises outliers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0" y="841248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58000" y="841248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67728" y="950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392B"/>
                </a:solidFill>
              </a:rPr>
              <a:t>15,496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67728" y="1435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ARIMA RMSE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(referrals/month)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67728" y="1801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2.25× Prophet RMSE</a:t>
            </a:r>
            <a:endParaRPr lang="en-US" sz="8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2148840"/>
            <a:ext cx="8595360" cy="257860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11480" y="4818888"/>
            <a:ext cx="82818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dirty="0">
                <a:solidFill>
                  <a:srgbClr val="1B2F5E"/>
                </a:solidFill>
              </a:rPr>
              <a:t>Prophet selected as production model — MAE 5,679 vs ARIMA 13,512. Prophet handles NHS seasonal patterns (Christmas, Easter, summer dips) automatically via Fourier terms.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3632" y="1143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Prophet Forecast: March - April </a:t>
            </a:r>
            <a:r>
              <a:rPr lang="en-US" b="1" dirty="0">
                <a:solidFill>
                  <a:srgbClr val="FFFFFF"/>
                </a:solidFill>
              </a:rPr>
              <a:t>- </a:t>
            </a:r>
            <a:r>
              <a:rPr lang="en-US" sz="1800" b="1" dirty="0">
                <a:solidFill>
                  <a:srgbClr val="FFFFFF"/>
                </a:solidFill>
              </a:rPr>
              <a:t>May 2026 with 95% Confidence Intervals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9601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</a:rPr>
              <a:t>March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887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</a:rPr>
              <a:t>152,424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84048" y="164592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</a:rPr>
              <a:t>CI: 148,135 – 156,540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83794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392B"/>
                </a:solidFill>
              </a:rPr>
              <a:t>Peak month — demand surge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74320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0" y="86868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10128" y="9601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</a:rPr>
              <a:t>April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1887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28090"/>
                </a:solidFill>
              </a:rPr>
              <a:t>126,767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10128" y="164592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</a:rPr>
              <a:t>CI: 122,373 – 131,151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183794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28090"/>
                </a:solidFill>
              </a:rPr>
              <a:t>Post-March dip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868680"/>
            <a:ext cx="274320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26480" y="868680"/>
            <a:ext cx="2743200" cy="6400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36208" y="9601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</a:rPr>
              <a:t>May 2026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11887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F5E"/>
                </a:solidFill>
              </a:rPr>
              <a:t>136,547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36208" y="164592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</a:rPr>
              <a:t>CI: 132,101 – 141,397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36208" y="183794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F5E"/>
                </a:solidFill>
              </a:rPr>
              <a:t>Partial recovery</a:t>
            </a:r>
            <a:endParaRPr lang="en-US" sz="9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2450592"/>
            <a:ext cx="8595360" cy="229057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solidFill>
            <a:srgbClr val="FFF8E1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2"/>
          <p:cNvSpPr/>
          <p:nvPr/>
        </p:nvSpPr>
        <p:spPr>
          <a:xfrm>
            <a:off x="411480" y="487375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dirty="0">
                <a:solidFill>
                  <a:srgbClr val="78350F"/>
                </a:solidFill>
              </a:rPr>
              <a:t>  March 2026 surge of ~152K referrals (vs April dip of ~127K) = 20% swing. Recommend pre-commissioning bank clinician sessions for Q1 and extended evening appointments in high-demand ICBs.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80851" y="11887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Isolation Forest — NHS CCG Prescribing Spend Anomalies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0116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950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392B"/>
                </a:solidFill>
              </a:rPr>
              <a:t>5%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1435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Contamination Rate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(model parameter)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801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Industry-standard setting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841248"/>
            <a:ext cx="20116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68880" y="841248"/>
            <a:ext cx="2011680" cy="6400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78608" y="950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F5E"/>
                </a:solidFill>
              </a:rPr>
              <a:t>IF-100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78608" y="1435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Isolation Forest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(n_estimators=100)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8608" y="1801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Random state=42 (reproducible)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841248"/>
            <a:ext cx="20116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841248"/>
            <a:ext cx="20116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73168" y="950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8090"/>
                </a:solidFill>
              </a:rPr>
              <a:t>5 Features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73168" y="1435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Per-patient cost, items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quantity, cost/item, qty/item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1801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Engineered from raw CCG data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0" y="841248"/>
            <a:ext cx="20116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58000" y="841248"/>
            <a:ext cx="2011680" cy="640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67728" y="950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B46C1"/>
                </a:solidFill>
              </a:rPr>
              <a:t>Top 10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67728" y="1435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CCGs flagged for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clinical audit review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67728" y="1801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</a:rPr>
              <a:t>Most anomalous months</a:t>
            </a:r>
            <a:endParaRPr lang="en-US" sz="8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2274243"/>
            <a:ext cx="5303520" cy="2676580"/>
          </a:xfrm>
          <a:prstGeom prst="rect">
            <a:avLst/>
          </a:prstGeom>
        </p:spPr>
      </p:pic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84371" y="2571750"/>
            <a:ext cx="3383280" cy="2377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1920" y="12801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Index of Multiple Deprivation (IMD) by ICB - England (42 ICBs)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46634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6636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F5E"/>
                </a:solidFill>
              </a:rPr>
              <a:t>What is IMD?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166360" y="12618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The Index of Multiple Deprivation (IMD) scores Lower Super Output Areas across 7 domains: income, employment, education, health, crime, housing, and environment. Higher score = more deprived.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166360" y="2240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F5E"/>
                </a:solidFill>
              </a:rPr>
              <a:t>Highest-Deprivation ICBs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166360" y="2560320"/>
            <a:ext cx="3749040" cy="301752"/>
          </a:xfrm>
          <a:prstGeom prst="rect">
            <a:avLst/>
          </a:prstGeom>
          <a:solidFill>
            <a:srgbClr val="FEF2F2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257800" y="26060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2F5E"/>
                </a:solidFill>
              </a:rPr>
              <a:t>Birmingham &amp; Solihull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680960" y="26060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</a:rPr>
              <a:t>67.5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66360" y="2926080"/>
            <a:ext cx="37490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257800" y="2971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2F5E"/>
                </a:solidFill>
              </a:rPr>
              <a:t>Black Country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680960" y="29718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</a:rPr>
              <a:t>64.5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166360" y="3291840"/>
            <a:ext cx="3749040" cy="301752"/>
          </a:xfrm>
          <a:prstGeom prst="rect">
            <a:avLst/>
          </a:prstGeom>
          <a:solidFill>
            <a:srgbClr val="FEF2F2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257800" y="33375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2F5E"/>
                </a:solidFill>
              </a:rPr>
              <a:t>North East London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680960" y="33375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</a:rPr>
              <a:t>62.8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166360" y="3657600"/>
            <a:ext cx="37490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257800" y="37033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2F5E"/>
                </a:solidFill>
              </a:rPr>
              <a:t>Greater Manchester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680960" y="37033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</a:rPr>
              <a:t>60.1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166360" y="4023360"/>
            <a:ext cx="3749040" cy="301752"/>
          </a:xfrm>
          <a:prstGeom prst="rect">
            <a:avLst/>
          </a:prstGeom>
          <a:solidFill>
            <a:srgbClr val="FEF2F2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257800" y="40690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2F5E"/>
                </a:solidFill>
              </a:rPr>
              <a:t>Buckinghamshire / Oxon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680960" y="4069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76749"/>
                </a:solidFill>
              </a:rPr>
              <a:t>29.0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166360" y="4389120"/>
            <a:ext cx="37490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257800" y="44348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2F5E"/>
                </a:solidFill>
              </a:rPr>
              <a:t>South Yorkshire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680960" y="44348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</a:rPr>
              <a:t>55.0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166360" y="4800600"/>
            <a:ext cx="3749040" cy="342900"/>
          </a:xfrm>
          <a:prstGeom prst="rect">
            <a:avLst/>
          </a:prstGeom>
          <a:solidFill>
            <a:srgbClr val="FEF2F2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303520" y="484632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dirty="0">
                <a:solidFill>
                  <a:srgbClr val="7F1D1D"/>
                </a:solidFill>
              </a:rPr>
              <a:t>Darker red = higher deprivation. Northern England and parts of London dominate the top quintile.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90500" y="12039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NHS Talking Therapies Access Rate vs High-Need / Low-Service ICBs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F5E"/>
                </a:solidFill>
              </a:rPr>
              <a:t>IAPT Access Rate by ICB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70432"/>
            <a:ext cx="429768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F5E"/>
                </a:solidFill>
              </a:rPr>
              <a:t>High-Need / Low-Service ICBs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170432"/>
            <a:ext cx="4206240" cy="33832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4320" y="4626864"/>
            <a:ext cx="859536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11480" y="4672584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dirty="0">
                <a:solidFill>
                  <a:srgbClr val="7F1D1D"/>
                </a:solidFill>
              </a:rPr>
              <a:t>Access rate range: 40.7% (Shropshire, Telford &amp; Wrekin) to 86.0% (South Yorkshire). Green = adequately served. Red = high deprivation + low access = unmet need. 7 ICBs flagged.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" y="13411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Priority ICBs - High Deprivation | Low Access |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sz="1800" b="1" dirty="0">
                <a:solidFill>
                  <a:srgbClr val="FFFFFF"/>
                </a:solidFill>
              </a:rPr>
              <a:t>Low Recovery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880360" cy="27432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7472" y="85039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ICB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804672"/>
            <a:ext cx="1188720" cy="27432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19272" y="85039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IMD Score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804672"/>
            <a:ext cx="1188720" cy="27432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99432" y="85039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Access Rate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06440" y="804672"/>
            <a:ext cx="1783080" cy="27432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879592" y="85039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Unmet Need Score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80960" y="804672"/>
            <a:ext cx="1361440" cy="27432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54112" y="85039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Avg Wait (days)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078992"/>
            <a:ext cx="288036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114300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F5E"/>
                </a:solidFill>
              </a:rPr>
              <a:t>Greater Manchester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078992"/>
            <a:ext cx="118872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37560" y="1143000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60.1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0" y="1078992"/>
            <a:ext cx="118872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17720" y="1143000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49.5%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06440" y="1078992"/>
            <a:ext cx="178308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897880" y="1143000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</a:rPr>
              <a:t>74.4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80960" y="1143000"/>
            <a:ext cx="1361440" cy="219456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72400" y="1143000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39.0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1078992"/>
            <a:ext cx="54864" cy="2834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1389888"/>
            <a:ext cx="28803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5760" y="1453896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F5E"/>
                </a:solidFill>
              </a:rPr>
              <a:t>Black Country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1389888"/>
            <a:ext cx="118872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337560" y="1453896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64.5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26280" y="1389888"/>
            <a:ext cx="118872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17720" y="1453896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57.5%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06440" y="1389888"/>
            <a:ext cx="178308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897880" y="1453896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</a:rPr>
              <a:t>73.4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680960" y="1426464"/>
            <a:ext cx="1361440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772400" y="1453896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49.2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1389888"/>
            <a:ext cx="54864" cy="2834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74320" y="1700784"/>
            <a:ext cx="288036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65760" y="1764792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F5E"/>
                </a:solidFill>
              </a:rPr>
              <a:t>North East London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46120" y="1700784"/>
            <a:ext cx="118872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337560" y="1764792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62.8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26280" y="1700784"/>
            <a:ext cx="118872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617720" y="1764792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55.3%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806440" y="1700784"/>
            <a:ext cx="178308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897880" y="1764792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</a:rPr>
              <a:t>62.7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680960" y="1737360"/>
            <a:ext cx="1361440" cy="246888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772400" y="1764792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N/A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1700784"/>
            <a:ext cx="54864" cy="2834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274320" y="2011680"/>
            <a:ext cx="28803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65760" y="2075688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F5E"/>
                </a:solidFill>
              </a:rPr>
              <a:t>North Central London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46120" y="2011680"/>
            <a:ext cx="118872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337560" y="2075688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60.2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26280" y="2011680"/>
            <a:ext cx="118872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617720" y="2075688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56.4%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806440" y="2011680"/>
            <a:ext cx="178308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897880" y="2075688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</a:rPr>
              <a:t>62.5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680960" y="2011680"/>
            <a:ext cx="13614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7772400" y="2075688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N/A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74320" y="2011680"/>
            <a:ext cx="54864" cy="2834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74320" y="2322576"/>
            <a:ext cx="288036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65760" y="2386584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F5E"/>
                </a:solidFill>
              </a:rPr>
              <a:t>North West London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246120" y="2322576"/>
            <a:ext cx="118872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337560" y="2386584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57.7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26280" y="2322576"/>
            <a:ext cx="118872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617720" y="2386584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54.2%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806440" y="2322576"/>
            <a:ext cx="178308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897880" y="238658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</a:rPr>
              <a:t>61.4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680960" y="2322576"/>
            <a:ext cx="136144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772400" y="2386584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N/A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74320" y="2322576"/>
            <a:ext cx="54864" cy="2834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74320" y="2633472"/>
            <a:ext cx="288036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65760" y="269748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F5E"/>
                </a:solidFill>
              </a:rPr>
              <a:t>Lancashire &amp; South Cumbria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246120" y="2633472"/>
            <a:ext cx="118872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337560" y="2697480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55.6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526280" y="2633472"/>
            <a:ext cx="118872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4617720" y="2697480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59.7%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806440" y="2633472"/>
            <a:ext cx="178308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5897880" y="2697480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</a:rPr>
              <a:t>60.3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7680960" y="2670048"/>
            <a:ext cx="1361440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7772400" y="2697480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N/A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274320" y="2633472"/>
            <a:ext cx="54864" cy="2834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274320" y="2944368"/>
            <a:ext cx="288036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365760" y="3008376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F5E"/>
                </a:solidFill>
              </a:rPr>
              <a:t>Cornwall &amp; Isles of Scilly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3246120" y="2944368"/>
            <a:ext cx="118872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3337560" y="3008376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57.8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4526280" y="2944368"/>
            <a:ext cx="118872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617720" y="3008376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56.6%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5806440" y="2944368"/>
            <a:ext cx="178308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5897880" y="3008376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</a:rPr>
              <a:t>50.4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7680960" y="2980944"/>
            <a:ext cx="1361440" cy="246888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7772400" y="3008376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25.3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274320" y="2944368"/>
            <a:ext cx="54864" cy="2834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274320" y="3502152"/>
            <a:ext cx="859536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3" name="Text 91"/>
          <p:cNvSpPr/>
          <p:nvPr/>
        </p:nvSpPr>
        <p:spPr>
          <a:xfrm>
            <a:off x="365760" y="3515360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dirty="0">
                <a:solidFill>
                  <a:srgbClr val="7F1D1D"/>
                </a:solidFill>
              </a:rPr>
              <a:t>EQUITY ACTION: Redirect NHS Talking Therapies ring-fenced development funding to these 7 ICBs. Commission additional low-intensity IAPT sessions (Step 2 online CBT) for Greater Manchester and Black Country in Q1 2026 — highest unmet need scores in England (74.4 and 73.4).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From Pipeline</a:t>
            </a:r>
            <a:endParaRPr lang="en-US" sz="3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to Insight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115671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C4D8"/>
                </a:solidFill>
              </a:rPr>
              <a:t>The three core findings — with clinical actions for your teams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924812"/>
            <a:ext cx="859536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9979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01  Patient Clustering — 6 segments, 1 urgent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807208"/>
            <a:ext cx="859536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8940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02  IAPT Demand Forecasting — March 2026 surge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675888"/>
            <a:ext cx="859536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03  Geo-Spatial Equity — 7 underserved ICBs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13360" y="11430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One Command - Full Pipeline - All Outputs Auto-Saved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621792"/>
          </a:xfrm>
          <a:prstGeom prst="rect">
            <a:avLst/>
          </a:prstGeom>
          <a:solidFill>
            <a:srgbClr val="E6FBF5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4864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2336" y="99669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02336" y="996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9235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F5E"/>
                </a:solidFill>
              </a:rPr>
              <a:t>python run_all.py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19786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Single command triggers everything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4904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8090"/>
                </a:solidFill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618488"/>
            <a:ext cx="4023360" cy="62179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1618488"/>
            <a:ext cx="54864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02336" y="174650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02336" y="1746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16733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F5E"/>
                </a:solidFill>
              </a:rPr>
              <a:t>Week 1 — Foundations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194767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DS1 · DS2 · DS3  →  13 outputs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22402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8090"/>
                </a:solidFill>
              </a:rPr>
              <a:t>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2368296"/>
            <a:ext cx="4023360" cy="621792"/>
          </a:xfrm>
          <a:prstGeom prst="rect">
            <a:avLst/>
          </a:prstGeom>
          <a:solidFill>
            <a:srgbClr val="EEF0F8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2368296"/>
            <a:ext cx="54864" cy="621792"/>
          </a:xfrm>
          <a:prstGeom prst="rect">
            <a:avLst/>
          </a:prstGeom>
          <a:solidFill>
            <a:srgbClr val="5B6EAE"/>
          </a:solidFill>
          <a:ln w="12700">
            <a:solidFill>
              <a:srgbClr val="5B6E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02336" y="2496312"/>
            <a:ext cx="347472" cy="347472"/>
          </a:xfrm>
          <a:prstGeom prst="ellipse">
            <a:avLst/>
          </a:prstGeom>
          <a:solidFill>
            <a:srgbClr val="5B6EAE"/>
          </a:solidFill>
          <a:ln w="12700">
            <a:solidFill>
              <a:srgbClr val="5B6E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02336" y="2496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2423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F5E"/>
                </a:solidFill>
              </a:rPr>
              <a:t>Week 2 — Modelling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269748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DS1 · DS2 · DS3  →  8 outputs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299008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8090"/>
                </a:solidFill>
              </a:rPr>
              <a:t>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3118104"/>
            <a:ext cx="4023360" cy="621792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3118104"/>
            <a:ext cx="54864" cy="62179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02336" y="3246120"/>
            <a:ext cx="347472" cy="347472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02336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31729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F5E"/>
                </a:solidFill>
              </a:rPr>
              <a:t>Week 3 — Forecasting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344728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DS1 · DS2 · DS3  →  9 outputs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373989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8090"/>
                </a:solidFill>
              </a:rPr>
              <a:t>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" y="3867912"/>
            <a:ext cx="4023360" cy="62179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74320" y="3867912"/>
            <a:ext cx="54864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02336" y="3995928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02336" y="3995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📁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" y="39227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F5E"/>
                </a:solidFill>
              </a:rPr>
              <a:t>outputs/ folder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" y="4197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All PNGs · CSVs · Excel auto-saved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480560" y="841248"/>
            <a:ext cx="4389120" cy="297180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480560" y="841248"/>
            <a:ext cx="438912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572000" y="90525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27448" y="90525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882896" y="90525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617720" y="114300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8C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run_all.py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617720" y="138988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26280" y="13761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NHS Mental Health DS Pipeline - Full Run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617720" y="188366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81144" y="167335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--&gt; Week 1 DS-1,2,3  (statistical_baseline...)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62857" y="188366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Done in 13.4s -&gt;  APMS2014_regional_prevalence.png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62857" y="212140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--&gt; Week 2 DS-1,2,3  (hypothesis_testing...)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81144" y="231495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Done in 2.0s  -&gt;  hypothesis_test_results.csv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81144" y="250088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--&gt; Week 3 DS-1,2,3  (clustering...)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81144" y="272948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Done in 10.6s -&gt;  cluster_analysis.png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81144" y="294132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--&gt; Week 4 DS-1,2  (iapt_forecasting...)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11040" y="313486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Done in 5.9s  -&gt;  forecast_3month_ahead.png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617720" y="410565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480560" y="3639312"/>
            <a:ext cx="1005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503420" y="3639312"/>
            <a:ext cx="1005840" cy="54864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480560" y="37124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7F5A"/>
                </a:solidFill>
              </a:rPr>
              <a:t>9/9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4480560" y="4023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Scripts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passed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577840" y="3639312"/>
            <a:ext cx="1005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5577840" y="3639312"/>
            <a:ext cx="10058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577840" y="37124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57s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5577840" y="4023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Total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runtime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697980" y="3639312"/>
            <a:ext cx="1005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6675120" y="3639312"/>
            <a:ext cx="1005840" cy="54864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675120" y="37124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46C1"/>
                </a:solidFill>
              </a:rPr>
              <a:t>30+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6675120" y="4023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Output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files saved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772400" y="3639312"/>
            <a:ext cx="1005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7772400" y="3639312"/>
            <a:ext cx="10058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7772400" y="37124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100%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7772400" y="4023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Reproducible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results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▶  To reproduce all results: clone repo → place datasets/ folder → run:  python run_all.py  — outputs appear in outputs/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137160" y="1295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Loading Monthly NHS Mental Health Data - Auto-Detection &amp; Append Pipeline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1627632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1627632" cy="640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95528" y="960120"/>
            <a:ext cx="475488" cy="47548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95528" y="96926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5087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F5E"/>
                </a:solidFill>
              </a:rPr>
              <a:t>Auto-Detect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F5E"/>
                </a:solidFill>
              </a:rPr>
              <a:t>Latest Month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201168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Script checks today's date, tries current month → walks back until a valid NHS URL is found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0" y="1574292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6C1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84248" y="868680"/>
            <a:ext cx="1627632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984248" y="868680"/>
            <a:ext cx="162763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551176" y="96012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551176" y="96926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57400" y="15087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F5E"/>
                </a:solidFill>
              </a:rPr>
              <a:t>Download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F5E"/>
                </a:solidFill>
              </a:rPr>
              <a:t>ZIP from NHS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201168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Fetches MHSDS ZIP from digital.nhs.uk - e.g. Feb 2026 (4.1 MB downloaded in 8s)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84448" y="1719072"/>
            <a:ext cx="15544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39896" y="868680"/>
            <a:ext cx="1627632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739896" y="868680"/>
            <a:ext cx="1627632" cy="6400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306824" y="960120"/>
            <a:ext cx="475488" cy="475488"/>
          </a:xfrm>
          <a:prstGeom prst="ellipse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306824" y="96926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13048" y="15087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F5E"/>
                </a:solidFill>
              </a:rPr>
              <a:t>Extract &amp;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F5E"/>
                </a:solidFill>
              </a:rPr>
              <a:t>Load CSV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13048" y="201168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Extracts CSV from ZIP - loads 771,626 rows × 11 cols into pandas DataFrame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40096" y="15773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F5E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95544" y="868680"/>
            <a:ext cx="1627632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495544" y="868680"/>
            <a:ext cx="1627632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062472" y="960120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062472" y="96926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68696" y="15087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F5E"/>
                </a:solidFill>
              </a:rPr>
              <a:t>Clean &amp;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F5E"/>
                </a:solidFill>
              </a:rPr>
              <a:t>Suppress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68696" y="201168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Removes suppressed values (619,013 flagged)  Standardises column names ·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114032" y="164134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51192" y="868680"/>
            <a:ext cx="1627632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251192" y="868680"/>
            <a:ext cx="1627632" cy="64008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818120" y="960120"/>
            <a:ext cx="475488" cy="475488"/>
          </a:xfrm>
          <a:prstGeom prst="ellipse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818120" y="96926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24344" y="15087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F5E"/>
                </a:solidFill>
              </a:rPr>
              <a:t>Append to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F5E"/>
                </a:solidFill>
              </a:rPr>
              <a:t>Master CSV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24344" y="201168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Appends to mhsds_master.csv  grows incrementally each month. 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3035808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228600" y="3035808"/>
            <a:ext cx="4206240" cy="2926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20040" y="30540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Master Dataset — February 2026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0040" y="34198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Total rows: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508760" y="34198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46C1"/>
                </a:solidFill>
              </a:rPr>
              <a:t>771,626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23160" y="34198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Total columns: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11880" y="34198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46C1"/>
                </a:solidFill>
              </a:rPr>
              <a:t>15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File size: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508760" y="37673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46C1"/>
                </a:solidFill>
              </a:rPr>
              <a:t>203.5 MB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2316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Unique measures: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611880" y="37673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46C1"/>
                </a:solidFill>
              </a:rPr>
              <a:t>378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0040" y="4114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Unique orgs: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508760" y="4114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46C1"/>
                </a:solidFill>
              </a:rPr>
              <a:t>1,149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423160" y="4114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Date range: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611880" y="4114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46C1"/>
                </a:solidFill>
              </a:rPr>
              <a:t>Mar 2025 → Feb 2026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17720" y="3035808"/>
            <a:ext cx="4251960" cy="173736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617720" y="3035808"/>
            <a:ext cx="425196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709160" y="309981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864608" y="309981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5020056" y="309981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709160" y="32689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2026-05-16 23:11:37  INFO   Trying March 2026...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709160" y="33787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2026-05-16 23:11:37  WARN   No URL for 2026-03 — skip.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709160" y="355701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2026-05-16 23:11:37  INFO   Trying February 2026...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709160" y="37277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2026-05-16 23:11:45  INFO   Downloaded 4.1 MB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709160" y="390525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2026-05-16 23:11:46  INFO   Loaded 771,626 rows × 11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709160" y="40873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2026-05-16 23:11:53  INFO   Appended → master 203.5 MB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732020" y="43891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8C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2026-05-16 23:11:53  INFO   ✅ Feb 2026 added to master!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44337A"/>
          </a:solidFill>
          <a:ln w="12700">
            <a:solidFill>
              <a:srgbClr val="44337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9" name="Text 67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DD6FE"/>
                </a:solidFill>
              </a:rPr>
              <a:t>🔄  Pipeline is incremental — run monthly to auto-detect latest NHS publication, download, clean, and append to master. No manual steps required.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062" y="-13062"/>
            <a:ext cx="128016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3 Clinical Recommendations 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A0C4D8"/>
                </a:solidFill>
              </a:rPr>
              <a:t>Derived from 9 scripts · 6 datasets · 20 outputs across 4 weeks of data science work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084217"/>
            <a:ext cx="859536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02920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274320" y="136572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1097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Targeted Care Pathways -  Patient Clustering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425158"/>
            <a:ext cx="7818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46 patients in Cluster 4 (PHQ≥17, GAD≥16, Epworth=13) need immediate Step 3/4 escalation. Embed cluster labels in clinical notes. Clusters 1 &amp; 2 (n=223) route to integrated physical-mental and sleep-aware Step 2 pathways.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41586"/>
            <a:ext cx="859536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2249424"/>
            <a:ext cx="502920" cy="10241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4073" y="23989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94153" y="2265099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Pre-Emptive Capacity Planning :- March 2026 Surge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58688"/>
            <a:ext cx="7818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Prophet model (MAE 5,679) forecasts 152,424 IAPT referrals in March 2026 - 20% above April. Pre-commission bank clinician hours and extended evening sessions in Q1 2026. Review rotas by end of November 2025.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390467"/>
            <a:ext cx="859536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3398305"/>
            <a:ext cx="502920" cy="10241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4153" y="3445981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Equity-Led Resource Reallocation - 7 ICBs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3766021"/>
            <a:ext cx="7818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chemeClr val="bg1"/>
                </a:solidFill>
              </a:rPr>
              <a:t>Greater Manchester (unmet score 74.4) and Black Country (73.4) are the most under-resourced. Redirect NHS Talking Therapies development funding immediately. Add Step 2 online CBT capacity across all 7 flagged ICBs.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2388</TotalTime>
  <Words>2478</Words>
  <Application>Microsoft Office PowerPoint</Application>
  <PresentationFormat>On-screen Show (16:9)</PresentationFormat>
  <Paragraphs>497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Courier New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Mental Health DS Pipeline — 20-Slide Demo</dc:title>
  <dc:subject>PptxGenJS Presentation</dc:subject>
  <dc:creator>PptxGenJS</dc:creator>
  <cp:lastModifiedBy>Gopani Rushay  Gauravbhai</cp:lastModifiedBy>
  <cp:revision>13</cp:revision>
  <dcterms:created xsi:type="dcterms:W3CDTF">2026-05-20T13:09:09Z</dcterms:created>
  <dcterms:modified xsi:type="dcterms:W3CDTF">2026-05-25T06:47:32Z</dcterms:modified>
</cp:coreProperties>
</file>