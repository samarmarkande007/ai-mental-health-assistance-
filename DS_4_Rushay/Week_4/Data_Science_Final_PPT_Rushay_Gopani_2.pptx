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43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76" r:id="rId8"/>
    <p:sldId id="263" r:id="rId9"/>
    <p:sldId id="267" r:id="rId10"/>
    <p:sldId id="268" r:id="rId11"/>
    <p:sldId id="269" r:id="rId12"/>
    <p:sldId id="264" r:id="rId13"/>
    <p:sldId id="270" r:id="rId14"/>
    <p:sldId id="271" r:id="rId15"/>
    <p:sldId id="265" r:id="rId16"/>
    <p:sldId id="272" r:id="rId17"/>
    <p:sldId id="273" r:id="rId18"/>
    <p:sldId id="274" r:id="rId19"/>
    <p:sldId id="266" r:id="rId20"/>
    <p:sldId id="277" r:id="rId21"/>
    <p:sldId id="278" r:id="rId22"/>
    <p:sldId id="275" r:id="rId23"/>
  </p:sldIdLst>
  <p:sldSz cx="9144000" cy="5143500" type="screen16x9"/>
  <p:notesSz cx="51435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BB7B9"/>
    <a:srgbClr val="53A388"/>
    <a:srgbClr val="00FF00"/>
    <a:srgbClr val="00CC66"/>
    <a:srgbClr val="CCE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20" autoAdjust="0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403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46174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9F8BE-D3B1-BBE2-B0DC-60928C923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51F3D9-384A-5FBF-ED59-FF2088E484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60F45C-6C49-9AAE-30F6-1E75F96D5E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07D815-EDE3-FA41-AF02-F7E374795F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6899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13335" y="601724"/>
            <a:ext cx="6477805" cy="1906073"/>
          </a:xfrm>
        </p:spPr>
        <p:txBody>
          <a:bodyPr bIns="0" anchor="b">
            <a:normAutofit/>
          </a:bodyPr>
          <a:lstStyle>
            <a:lvl1pPr algn="l">
              <a:defRPr sz="49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13335" y="2648403"/>
            <a:ext cx="6477804" cy="733216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350" b="0" cap="all" baseline="0">
                <a:solidFill>
                  <a:schemeClr val="tx1"/>
                </a:solidFill>
              </a:defRPr>
            </a:lvl1pPr>
            <a:lvl2pPr marL="342900" indent="0" algn="ctr">
              <a:buNone/>
              <a:defRPr sz="135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5/25/2026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12376" y="246981"/>
            <a:ext cx="3730436" cy="2319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8249" y="599230"/>
            <a:ext cx="608264" cy="377684"/>
          </a:xfrm>
        </p:spPr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813335" y="2646407"/>
            <a:ext cx="6477804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1682007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5/25/2026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33" name="Straight Connector 32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497996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0679" y="1317097"/>
            <a:ext cx="6482366" cy="1415963"/>
          </a:xfrm>
        </p:spPr>
        <p:txBody>
          <a:bodyPr anchor="b">
            <a:normAutofit/>
          </a:bodyPr>
          <a:lstStyle>
            <a:lvl1pPr algn="l">
              <a:defRPr sz="27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0679" y="2854647"/>
            <a:ext cx="6472835" cy="759697"/>
          </a:xfrm>
        </p:spPr>
        <p:txBody>
          <a:bodyPr tIns="91440">
            <a:normAutofit/>
          </a:bodyPr>
          <a:lstStyle>
            <a:lvl1pPr marL="0" indent="0" algn="l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5/25/2026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090679" y="2853739"/>
            <a:ext cx="6472835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6541218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6913" y="603667"/>
            <a:ext cx="7204226" cy="79447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85498" y="1508159"/>
            <a:ext cx="3483864" cy="258644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10328" y="1513007"/>
            <a:ext cx="3483864" cy="25811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5/25/2026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35" name="Straight Connector 34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0987450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5394" y="603123"/>
            <a:ext cx="7205746" cy="79223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85393" y="1514662"/>
            <a:ext cx="3483864" cy="60145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65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5393" y="2118202"/>
            <a:ext cx="3483864" cy="198334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09272" y="1517253"/>
            <a:ext cx="3483864" cy="601678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65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09272" y="2116119"/>
            <a:ext cx="3483864" cy="19780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5/25/2026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29" name="Straight Connector 28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231906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5/25/2026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25" name="Straight Connector 24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8368581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5/25/2026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0378453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3504" y="599230"/>
            <a:ext cx="2454824" cy="1685338"/>
          </a:xfrm>
        </p:spPr>
        <p:txBody>
          <a:bodyPr anchor="b">
            <a:normAutofit/>
          </a:bodyPr>
          <a:lstStyle>
            <a:lvl1pPr algn="l">
              <a:defRPr sz="1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82785" y="599230"/>
            <a:ext cx="4509353" cy="349412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83504" y="2404119"/>
            <a:ext cx="2456260" cy="1686136"/>
          </a:xfrm>
        </p:spPr>
        <p:txBody>
          <a:bodyPr/>
          <a:lstStyle>
            <a:lvl1pPr marL="0" indent="0" algn="l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5/25/2026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7" name="Straight Connector 16"/>
          <p:cNvCxnSpPr/>
          <p:nvPr/>
        </p:nvCxnSpPr>
        <p:spPr>
          <a:xfrm>
            <a:off x="1086210" y="2404118"/>
            <a:ext cx="2452118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3778921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5608041" y="361628"/>
            <a:ext cx="3055900" cy="3861826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8405" y="847135"/>
            <a:ext cx="4149246" cy="1372938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3292" y="841907"/>
            <a:ext cx="2093378" cy="2899745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87747" y="2359494"/>
            <a:ext cx="4143303" cy="1502807"/>
          </a:xfrm>
        </p:spPr>
        <p:txBody>
          <a:bodyPr>
            <a:normAutofit/>
          </a:bodyPr>
          <a:lstStyle>
            <a:lvl1pPr marL="0" indent="0" algn="l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085537" y="4102393"/>
            <a:ext cx="4145513" cy="240092"/>
          </a:xfrm>
        </p:spPr>
        <p:txBody>
          <a:bodyPr/>
          <a:lstStyle>
            <a:lvl1pPr algn="l">
              <a:defRPr/>
            </a:lvl1pPr>
          </a:lstStyle>
          <a:p>
            <a:fld id="{48A87A34-81AB-432B-8DAE-1953F412C126}" type="datetimeFigureOut">
              <a:rPr lang="en-US" smtClean="0"/>
              <a:pPr/>
              <a:t>5/25/2026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85537" y="238981"/>
            <a:ext cx="4155753" cy="240698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31" name="Straight Connector 30"/>
          <p:cNvCxnSpPr/>
          <p:nvPr/>
        </p:nvCxnSpPr>
        <p:spPr>
          <a:xfrm>
            <a:off x="1085537" y="2357704"/>
            <a:ext cx="414551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1658515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5/25/2026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26" name="Straight Connector 25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76970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79333" y="599230"/>
            <a:ext cx="1211807" cy="3494917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83504" y="599230"/>
            <a:ext cx="5871623" cy="34949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5/25/2026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7079333" y="599230"/>
            <a:ext cx="0" cy="3494917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5473599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171743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1514607"/>
            <a:ext cx="9144000" cy="3079456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3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88685" y="603390"/>
            <a:ext cx="7202456" cy="78692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88685" y="1511799"/>
            <a:ext cx="7202456" cy="25879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65604" y="247778"/>
            <a:ext cx="2625536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5/25/2026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684" y="246981"/>
            <a:ext cx="4454127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0046" y="599230"/>
            <a:ext cx="608264" cy="377684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100">
                <a:solidFill>
                  <a:schemeClr val="accent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4596310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31228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4" r:id="rId1"/>
    <p:sldLayoutId id="2147483845" r:id="rId2"/>
    <p:sldLayoutId id="2147483846" r:id="rId3"/>
    <p:sldLayoutId id="2147483847" r:id="rId4"/>
    <p:sldLayoutId id="2147483848" r:id="rId5"/>
    <p:sldLayoutId id="2147483849" r:id="rId6"/>
    <p:sldLayoutId id="2147483850" r:id="rId7"/>
    <p:sldLayoutId id="2147483851" r:id="rId8"/>
    <p:sldLayoutId id="2147483852" r:id="rId9"/>
    <p:sldLayoutId id="2147483853" r:id="rId10"/>
    <p:sldLayoutId id="2147483854" r:id="rId11"/>
    <p:sldLayoutId id="2147483855" r:id="rId12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4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20000"/>
        </a:lnSpc>
        <a:spcBef>
          <a:spcPts val="75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5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35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05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F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267789" y="-62586"/>
            <a:ext cx="8680267" cy="2300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800" b="1" dirty="0">
                <a:solidFill>
                  <a:srgbClr val="FFFFFF"/>
                </a:solidFill>
              </a:rPr>
              <a:t>AI Mental Health</a:t>
            </a:r>
            <a:endParaRPr lang="en-US" sz="48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800" b="1" dirty="0">
                <a:solidFill>
                  <a:srgbClr val="FFFFFF"/>
                </a:solidFill>
              </a:rPr>
              <a:t>Assistance</a:t>
            </a:r>
            <a:endParaRPr lang="en-US" sz="4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20AA2E-C7F7-9F41-4490-A238D655C568}"/>
              </a:ext>
            </a:extLst>
          </p:cNvPr>
          <p:cNvSpPr txBox="1"/>
          <p:nvPr/>
        </p:nvSpPr>
        <p:spPr>
          <a:xfrm>
            <a:off x="192838" y="2773181"/>
            <a:ext cx="51106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Team Members -  Rushay Gopani || Samar </a:t>
            </a:r>
            <a:r>
              <a:rPr lang="en-IN" dirty="0" err="1">
                <a:solidFill>
                  <a:schemeClr val="bg1"/>
                </a:solidFill>
              </a:rPr>
              <a:t>Markande</a:t>
            </a:r>
            <a:br>
              <a:rPr lang="en-IN" dirty="0">
                <a:solidFill>
                  <a:schemeClr val="bg1"/>
                </a:solidFill>
              </a:rPr>
            </a:br>
            <a:r>
              <a:rPr lang="en-IN" dirty="0">
                <a:solidFill>
                  <a:schemeClr val="bg1"/>
                </a:solidFill>
              </a:rPr>
              <a:t>			     Anurag Chawla || Maya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400" dirty="0">
                <a:solidFill>
                  <a:srgbClr val="028090"/>
                </a:solidFill>
              </a:rPr>
              <a:t>PROJECT OVERVIEW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B2F5E"/>
                </a:solidFill>
              </a:rPr>
              <a:t>Three Clinical Questions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A5568"/>
                </a:solidFill>
              </a:rPr>
              <a:t>The NHS Mental Health service faces three core unknowns. Our pipeline answers all three with reproducible, evidence-based data science.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691640"/>
            <a:ext cx="2697480" cy="3154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320040" y="1691640"/>
            <a:ext cx="2697480" cy="6400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28090"/>
                </a:solidFill>
              </a:rPr>
              <a:t>01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2404872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B2F5E"/>
                </a:solidFill>
              </a:rPr>
              <a:t>WHO are our patients?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017520"/>
            <a:ext cx="2423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100" dirty="0">
                <a:solidFill>
                  <a:srgbClr val="4A5568"/>
                </a:solidFill>
              </a:rPr>
              <a:t>K-Means clustering segments 775 patients into 6 distinct risk profiles — enabling targeted care pathways.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0" y="1691640"/>
            <a:ext cx="2697480" cy="3154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3200400" y="1691640"/>
            <a:ext cx="2697480" cy="64008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3337560" y="18288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B2F5E"/>
                </a:solidFill>
              </a:rPr>
              <a:t>02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337560" y="2404872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B2F5E"/>
                </a:solidFill>
              </a:rPr>
              <a:t>WHEN will demand peak?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337560" y="3017520"/>
            <a:ext cx="2423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100" dirty="0">
                <a:solidFill>
                  <a:srgbClr val="4A5568"/>
                </a:solidFill>
              </a:rPr>
              <a:t>Prophet + ARIMA models forecast monthly IAPT referrals 3 months ahead with 95% confidence intervals.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80760" y="1691640"/>
            <a:ext cx="2697480" cy="3154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6080760" y="1691640"/>
            <a:ext cx="269748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6217920" y="18288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0392B"/>
                </a:solidFill>
              </a:rPr>
              <a:t>03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217920" y="2404872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B2F5E"/>
                </a:solidFill>
              </a:rPr>
              <a:t>WHERE is need going unmet?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17920" y="3017520"/>
            <a:ext cx="2423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100" dirty="0">
                <a:solidFill>
                  <a:srgbClr val="4A5568"/>
                </a:solidFill>
              </a:rPr>
              <a:t>Geo-spatial IMD × IAPT access analysis identifies 7 high-deprivation ICBs with below-average access rates.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400" dirty="0">
                <a:solidFill>
                  <a:srgbClr val="02C39A"/>
                </a:solidFill>
              </a:rPr>
              <a:t>SLIDE 03  ·  DATA SOURCES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274320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</a:rPr>
              <a:t>Datasets Used Across the Pipeline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274320" y="114300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</a:rPr>
              <a:t>Datasets Used Across the Pipeline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74320" y="896112"/>
            <a:ext cx="1874520" cy="3474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347472" y="941832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</a:rPr>
              <a:t>Dataset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40280" y="896112"/>
            <a:ext cx="1508760" cy="3474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2313432" y="941832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</a:rPr>
              <a:t>Size / Scope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840480" y="896112"/>
            <a:ext cx="3611880" cy="3474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913632" y="941832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</a:rPr>
              <a:t>Key Features Used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543800" y="896112"/>
            <a:ext cx="1508760" cy="3474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7616952" y="941832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</a:rPr>
              <a:t>Scripts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1243584"/>
            <a:ext cx="1874520" cy="493776"/>
          </a:xfrm>
          <a:prstGeom prst="rect">
            <a:avLst/>
          </a:prstGeom>
          <a:solidFill>
            <a:srgbClr val="FFFFFF"/>
          </a:solidFill>
          <a:ln w="508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347472" y="1298448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1B2F5E"/>
                </a:solidFill>
              </a:rPr>
              <a:t>APMS 2014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240280" y="1243584"/>
            <a:ext cx="1508760" cy="493776"/>
          </a:xfrm>
          <a:prstGeom prst="rect">
            <a:avLst/>
          </a:prstGeom>
          <a:solidFill>
            <a:srgbClr val="FFFFFF"/>
          </a:solidFill>
          <a:ln w="508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2313432" y="1298448"/>
            <a:ext cx="1389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4A5568"/>
                </a:solidFill>
              </a:rPr>
              <a:t>9 regional XLS chapters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840480" y="1243584"/>
            <a:ext cx="3611880" cy="493776"/>
          </a:xfrm>
          <a:prstGeom prst="rect">
            <a:avLst/>
          </a:prstGeom>
          <a:solidFill>
            <a:srgbClr val="FFFFFF"/>
          </a:solidFill>
          <a:ln w="508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3913632" y="1298448"/>
            <a:ext cx="3493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4A5568"/>
                </a:solidFill>
              </a:rPr>
              <a:t>CMD, PTSD, Psychosis, PD, ADHD, Bipolar, Alcohol, Drug, Suicide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543800" y="1243584"/>
            <a:ext cx="1508760" cy="493776"/>
          </a:xfrm>
          <a:prstGeom prst="rect">
            <a:avLst/>
          </a:prstGeom>
          <a:solidFill>
            <a:srgbClr val="FFFFFF"/>
          </a:solidFill>
          <a:ln w="508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7616952" y="1298448"/>
            <a:ext cx="1389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4A5568"/>
                </a:solidFill>
              </a:rPr>
              <a:t>W1-DS1, W1-DS2 ,W1-DS3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83464" y="2130551"/>
            <a:ext cx="1874520" cy="310896"/>
          </a:xfrm>
          <a:prstGeom prst="rect">
            <a:avLst/>
          </a:prstGeom>
          <a:solidFill>
            <a:schemeClr val="bg1"/>
          </a:solidFill>
          <a:ln w="508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301752" y="2072748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1B2F5E"/>
                </a:solidFill>
              </a:rPr>
              <a:t>depression_anxiety_data.csv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217420" y="2133816"/>
            <a:ext cx="1508760" cy="304365"/>
          </a:xfrm>
          <a:prstGeom prst="rect">
            <a:avLst/>
          </a:prstGeom>
          <a:solidFill>
            <a:schemeClr val="bg1"/>
          </a:solidFill>
          <a:ln w="508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286000" y="2091360"/>
            <a:ext cx="1389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4A5568"/>
                </a:solidFill>
              </a:rPr>
              <a:t>775 patients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849624" y="2133490"/>
            <a:ext cx="3611880" cy="304365"/>
          </a:xfrm>
          <a:prstGeom prst="rect">
            <a:avLst/>
          </a:prstGeom>
          <a:solidFill>
            <a:schemeClr val="bg1"/>
          </a:solidFill>
          <a:ln w="508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3867912" y="2115854"/>
            <a:ext cx="3493008" cy="316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4A5568"/>
                </a:solidFill>
              </a:rPr>
              <a:t>PHQ, GAD, BMI, Age, Gender, Epworth Sleep Score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543800" y="2126631"/>
            <a:ext cx="1508760" cy="304365"/>
          </a:xfrm>
          <a:prstGeom prst="rect">
            <a:avLst/>
          </a:prstGeom>
          <a:solidFill>
            <a:schemeClr val="bg1"/>
          </a:solidFill>
          <a:ln w="508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7594092" y="2091360"/>
            <a:ext cx="1389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4A5568"/>
                </a:solidFill>
              </a:rPr>
              <a:t>W2-DS1, W2-DS2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74320" y="2487166"/>
            <a:ext cx="1874520" cy="310897"/>
          </a:xfrm>
          <a:prstGeom prst="rect">
            <a:avLst/>
          </a:prstGeom>
          <a:solidFill>
            <a:srgbClr val="CCECFF"/>
          </a:solidFill>
          <a:ln w="508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338328" y="2395728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1B2F5E"/>
                </a:solidFill>
              </a:rPr>
              <a:t>referrals_past_data.csv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240280" y="2487166"/>
            <a:ext cx="1508760" cy="310898"/>
          </a:xfrm>
          <a:prstGeom prst="rect">
            <a:avLst/>
          </a:prstGeom>
          <a:solidFill>
            <a:srgbClr val="CCECFF"/>
          </a:solidFill>
          <a:ln w="508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2276856" y="2414016"/>
            <a:ext cx="1389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4A5568"/>
                </a:solidFill>
              </a:rPr>
              <a:t>Monthly IAPT referrals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840480" y="2493696"/>
            <a:ext cx="3611880" cy="304367"/>
          </a:xfrm>
          <a:prstGeom prst="rect">
            <a:avLst/>
          </a:prstGeom>
          <a:solidFill>
            <a:srgbClr val="CCECFF"/>
          </a:solidFill>
          <a:ln w="508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3913632" y="2421854"/>
            <a:ext cx="3493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4A5568"/>
                </a:solidFill>
              </a:rPr>
              <a:t>Referrals received, time-series 2023–2025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543800" y="2493696"/>
            <a:ext cx="1508760" cy="304368"/>
          </a:xfrm>
          <a:prstGeom prst="rect">
            <a:avLst/>
          </a:prstGeom>
          <a:solidFill>
            <a:srgbClr val="CCECFF"/>
          </a:solidFill>
          <a:ln w="508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Text 37"/>
          <p:cNvSpPr/>
          <p:nvPr/>
        </p:nvSpPr>
        <p:spPr>
          <a:xfrm>
            <a:off x="7589520" y="2446673"/>
            <a:ext cx="1389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4A5568"/>
                </a:solidFill>
              </a:rPr>
              <a:t>W3-DS1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274320" y="2834640"/>
            <a:ext cx="1874520" cy="493776"/>
          </a:xfrm>
          <a:prstGeom prst="rect">
            <a:avLst/>
          </a:prstGeom>
          <a:solidFill>
            <a:schemeClr val="bg1"/>
          </a:solidFill>
          <a:ln w="508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47472" y="288950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1B2F5E"/>
                </a:solidFill>
              </a:rPr>
              <a:t>mental_health_proxy_timeseries.csv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2240280" y="2834640"/>
            <a:ext cx="1508760" cy="493776"/>
          </a:xfrm>
          <a:prstGeom prst="rect">
            <a:avLst/>
          </a:prstGeom>
          <a:solidFill>
            <a:schemeClr val="bg1"/>
          </a:solidFill>
          <a:ln w="508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/>
          <p:nvPr/>
        </p:nvSpPr>
        <p:spPr>
          <a:xfrm>
            <a:off x="2313432" y="2889504"/>
            <a:ext cx="1389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4A5568"/>
                </a:solidFill>
              </a:rPr>
              <a:t>CSEW 2002–2019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840480" y="2834640"/>
            <a:ext cx="3611880" cy="493776"/>
          </a:xfrm>
          <a:prstGeom prst="rect">
            <a:avLst/>
          </a:prstGeom>
          <a:solidFill>
            <a:schemeClr val="bg1"/>
          </a:solidFill>
          <a:ln w="508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Text 43"/>
          <p:cNvSpPr/>
          <p:nvPr/>
        </p:nvSpPr>
        <p:spPr>
          <a:xfrm>
            <a:off x="3913632" y="2889504"/>
            <a:ext cx="3493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4A5568"/>
                </a:solidFill>
              </a:rPr>
              <a:t>Crime worry, safety perception — mental health proxy indicators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543800" y="2834640"/>
            <a:ext cx="1508760" cy="493776"/>
          </a:xfrm>
          <a:prstGeom prst="rect">
            <a:avLst/>
          </a:prstGeom>
          <a:solidFill>
            <a:schemeClr val="bg1"/>
          </a:solidFill>
          <a:ln w="508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7" name="Text 45"/>
          <p:cNvSpPr/>
          <p:nvPr/>
        </p:nvSpPr>
        <p:spPr>
          <a:xfrm>
            <a:off x="7616952" y="2889504"/>
            <a:ext cx="1389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4A5568"/>
                </a:solidFill>
              </a:rPr>
              <a:t>W2-DS3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74320" y="3364992"/>
            <a:ext cx="1874520" cy="493776"/>
          </a:xfrm>
          <a:prstGeom prst="rect">
            <a:avLst/>
          </a:prstGeom>
          <a:solidFill>
            <a:srgbClr val="CCECFF"/>
          </a:solidFill>
          <a:ln w="508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9" name="Text 47"/>
          <p:cNvSpPr/>
          <p:nvPr/>
        </p:nvSpPr>
        <p:spPr>
          <a:xfrm>
            <a:off x="347472" y="3419856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1B2F5E"/>
                </a:solidFill>
              </a:rPr>
              <a:t>NHS Prescribing (CCG spend)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2240280" y="3364992"/>
            <a:ext cx="1508760" cy="493776"/>
          </a:xfrm>
          <a:prstGeom prst="rect">
            <a:avLst/>
          </a:prstGeom>
          <a:solidFill>
            <a:srgbClr val="CCECFF"/>
          </a:solidFill>
          <a:ln w="508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1" name="Text 49"/>
          <p:cNvSpPr/>
          <p:nvPr/>
        </p:nvSpPr>
        <p:spPr>
          <a:xfrm>
            <a:off x="2313432" y="3419856"/>
            <a:ext cx="1389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4A5568"/>
                </a:solidFill>
              </a:rPr>
              <a:t>CCG-level monthly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840480" y="3364992"/>
            <a:ext cx="3611880" cy="493776"/>
          </a:xfrm>
          <a:prstGeom prst="rect">
            <a:avLst/>
          </a:prstGeom>
          <a:solidFill>
            <a:srgbClr val="CCECFF"/>
          </a:solidFill>
          <a:ln w="508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3" name="Text 51"/>
          <p:cNvSpPr/>
          <p:nvPr/>
        </p:nvSpPr>
        <p:spPr>
          <a:xfrm>
            <a:off x="3913632" y="3419856"/>
            <a:ext cx="3493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4A5568"/>
                </a:solidFill>
              </a:rPr>
              <a:t>Actual cost, items, quantity, list size — per patient ratios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543800" y="3364992"/>
            <a:ext cx="1508760" cy="493776"/>
          </a:xfrm>
          <a:prstGeom prst="rect">
            <a:avLst/>
          </a:prstGeom>
          <a:solidFill>
            <a:srgbClr val="CCECFF"/>
          </a:solidFill>
          <a:ln w="508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3"/>
          <p:cNvSpPr/>
          <p:nvPr/>
        </p:nvSpPr>
        <p:spPr>
          <a:xfrm>
            <a:off x="7616952" y="3419856"/>
            <a:ext cx="1389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4A5568"/>
                </a:solidFill>
              </a:rPr>
              <a:t>W3-DS2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274320" y="3895344"/>
            <a:ext cx="1874520" cy="493776"/>
          </a:xfrm>
          <a:prstGeom prst="rect">
            <a:avLst/>
          </a:prstGeom>
          <a:solidFill>
            <a:schemeClr val="bg1"/>
          </a:solidFill>
          <a:ln w="508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Text 55"/>
          <p:cNvSpPr/>
          <p:nvPr/>
        </p:nvSpPr>
        <p:spPr>
          <a:xfrm>
            <a:off x="347472" y="3950208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1B2F5E"/>
                </a:solidFill>
              </a:rPr>
              <a:t>NHS Talking Therapies + IMD + ICB Shapefile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2240280" y="3895344"/>
            <a:ext cx="1508760" cy="493776"/>
          </a:xfrm>
          <a:prstGeom prst="rect">
            <a:avLst/>
          </a:prstGeom>
          <a:solidFill>
            <a:schemeClr val="bg1"/>
          </a:solidFill>
          <a:ln w="508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Text 57"/>
          <p:cNvSpPr/>
          <p:nvPr/>
        </p:nvSpPr>
        <p:spPr>
          <a:xfrm>
            <a:off x="2313432" y="3950208"/>
            <a:ext cx="1389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4A5568"/>
                </a:solidFill>
              </a:rPr>
              <a:t>42 ICBs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3840480" y="3895344"/>
            <a:ext cx="3611880" cy="493776"/>
          </a:xfrm>
          <a:prstGeom prst="rect">
            <a:avLst/>
          </a:prstGeom>
          <a:solidFill>
            <a:schemeClr val="bg1"/>
          </a:solidFill>
          <a:ln w="508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9"/>
          <p:cNvSpPr/>
          <p:nvPr/>
        </p:nvSpPr>
        <p:spPr>
          <a:xfrm>
            <a:off x="3913632" y="3950208"/>
            <a:ext cx="3493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4A5568"/>
                </a:solidFill>
              </a:rPr>
              <a:t>Referrals, access rate, recovery, wait times, IMD decile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543800" y="3895344"/>
            <a:ext cx="1508760" cy="493776"/>
          </a:xfrm>
          <a:prstGeom prst="rect">
            <a:avLst/>
          </a:prstGeom>
          <a:solidFill>
            <a:schemeClr val="bg1"/>
          </a:solidFill>
          <a:ln w="508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3" name="Text 61"/>
          <p:cNvSpPr/>
          <p:nvPr/>
        </p:nvSpPr>
        <p:spPr>
          <a:xfrm>
            <a:off x="7616952" y="3950208"/>
            <a:ext cx="1389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dirty="0">
                <a:solidFill>
                  <a:srgbClr val="4A5568"/>
                </a:solidFill>
              </a:rPr>
              <a:t>W3-DS3</a:t>
            </a:r>
            <a:endParaRPr lang="en-US" sz="900" dirty="0"/>
          </a:p>
        </p:txBody>
      </p:sp>
      <p:sp>
        <p:nvSpPr>
          <p:cNvPr id="6" name="Shape 22">
            <a:extLst>
              <a:ext uri="{FF2B5EF4-FFF2-40B4-BE49-F238E27FC236}">
                <a16:creationId xmlns:a16="http://schemas.microsoft.com/office/drawing/2014/main" id="{8B9C47E8-8D6F-E688-E10D-19BFC5758298}"/>
              </a:ext>
            </a:extLst>
          </p:cNvPr>
          <p:cNvSpPr/>
          <p:nvPr/>
        </p:nvSpPr>
        <p:spPr>
          <a:xfrm>
            <a:off x="283464" y="1773936"/>
            <a:ext cx="1874520" cy="310896"/>
          </a:xfrm>
          <a:prstGeom prst="rect">
            <a:avLst/>
          </a:prstGeom>
          <a:solidFill>
            <a:srgbClr val="CCECFF"/>
          </a:solidFill>
          <a:ln w="5080">
            <a:solidFill>
              <a:srgbClr val="D1D5DB"/>
            </a:solidFill>
            <a:prstDash val="solid"/>
          </a:ln>
        </p:spPr>
        <p:txBody>
          <a:bodyPr/>
          <a:lstStyle/>
          <a:p>
            <a:r>
              <a:rPr lang="en-IN" sz="950" b="1" dirty="0">
                <a:solidFill>
                  <a:srgbClr val="002060"/>
                </a:solidFill>
              </a:rPr>
              <a:t>MHSDS</a:t>
            </a:r>
          </a:p>
          <a:p>
            <a:endParaRPr lang="en-IN" dirty="0"/>
          </a:p>
        </p:txBody>
      </p:sp>
      <p:sp>
        <p:nvSpPr>
          <p:cNvPr id="64" name="Shape 24">
            <a:extLst>
              <a:ext uri="{FF2B5EF4-FFF2-40B4-BE49-F238E27FC236}">
                <a16:creationId xmlns:a16="http://schemas.microsoft.com/office/drawing/2014/main" id="{B6303507-D208-7190-8684-F9D50CA3B1E1}"/>
              </a:ext>
            </a:extLst>
          </p:cNvPr>
          <p:cNvSpPr/>
          <p:nvPr/>
        </p:nvSpPr>
        <p:spPr>
          <a:xfrm>
            <a:off x="2226564" y="1788632"/>
            <a:ext cx="1508760" cy="304365"/>
          </a:xfrm>
          <a:prstGeom prst="rect">
            <a:avLst/>
          </a:prstGeom>
          <a:solidFill>
            <a:srgbClr val="CCECFF"/>
          </a:solidFill>
          <a:ln w="5080">
            <a:solidFill>
              <a:srgbClr val="D1D5DB"/>
            </a:solidFill>
            <a:prstDash val="solid"/>
          </a:ln>
        </p:spPr>
        <p:txBody>
          <a:bodyPr/>
          <a:lstStyle/>
          <a:p>
            <a:r>
              <a:rPr lang="en-IN" sz="900" dirty="0">
                <a:solidFill>
                  <a:schemeClr val="accent6">
                    <a:lumMod val="50000"/>
                  </a:schemeClr>
                </a:solidFill>
              </a:rPr>
              <a:t> 771,626 patients</a:t>
            </a:r>
          </a:p>
        </p:txBody>
      </p:sp>
      <p:sp>
        <p:nvSpPr>
          <p:cNvPr id="65" name="Shape 18">
            <a:extLst>
              <a:ext uri="{FF2B5EF4-FFF2-40B4-BE49-F238E27FC236}">
                <a16:creationId xmlns:a16="http://schemas.microsoft.com/office/drawing/2014/main" id="{6568914F-87B8-D8B2-3302-B5ECF9C286ED}"/>
              </a:ext>
            </a:extLst>
          </p:cNvPr>
          <p:cNvSpPr/>
          <p:nvPr/>
        </p:nvSpPr>
        <p:spPr>
          <a:xfrm>
            <a:off x="3838194" y="1796361"/>
            <a:ext cx="3611880" cy="296636"/>
          </a:xfrm>
          <a:prstGeom prst="rect">
            <a:avLst/>
          </a:prstGeom>
          <a:solidFill>
            <a:srgbClr val="CCECFF"/>
          </a:solidFill>
          <a:ln w="5080">
            <a:solidFill>
              <a:srgbClr val="D1D5DB"/>
            </a:solidFill>
            <a:prstDash val="solid"/>
          </a:ln>
        </p:spPr>
        <p:txBody>
          <a:bodyPr/>
          <a:lstStyle/>
          <a:p>
            <a:r>
              <a:rPr lang="en-IN" sz="1000" dirty="0">
                <a:solidFill>
                  <a:schemeClr val="accent6">
                    <a:lumMod val="50000"/>
                  </a:schemeClr>
                </a:solidFill>
              </a:rPr>
              <a:t>Primary Level, Measure Id, Measure name, Measure value, etc.</a:t>
            </a:r>
          </a:p>
        </p:txBody>
      </p:sp>
      <p:sp>
        <p:nvSpPr>
          <p:cNvPr id="66" name="Shape 20">
            <a:extLst>
              <a:ext uri="{FF2B5EF4-FFF2-40B4-BE49-F238E27FC236}">
                <a16:creationId xmlns:a16="http://schemas.microsoft.com/office/drawing/2014/main" id="{82556289-A3E9-D714-A92F-1037DCF9F981}"/>
              </a:ext>
            </a:extLst>
          </p:cNvPr>
          <p:cNvSpPr/>
          <p:nvPr/>
        </p:nvSpPr>
        <p:spPr>
          <a:xfrm>
            <a:off x="7557516" y="1800060"/>
            <a:ext cx="1508760" cy="292937"/>
          </a:xfrm>
          <a:prstGeom prst="rect">
            <a:avLst/>
          </a:prstGeom>
          <a:solidFill>
            <a:srgbClr val="CCECFF"/>
          </a:solidFill>
          <a:ln w="5080">
            <a:solidFill>
              <a:srgbClr val="D1D5DB"/>
            </a:solidFill>
            <a:prstDash val="solid"/>
          </a:ln>
        </p:spPr>
        <p:txBody>
          <a:bodyPr/>
          <a:lstStyle/>
          <a:p>
            <a:r>
              <a:rPr lang="en-IN" sz="900" dirty="0">
                <a:solidFill>
                  <a:schemeClr val="accent6">
                    <a:lumMod val="50000"/>
                  </a:schemeClr>
                </a:solidFill>
              </a:rPr>
              <a:t>W4-DS2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4571"/>
            <a:ext cx="9144000" cy="777240"/>
          </a:xfrm>
          <a:prstGeom prst="rect">
            <a:avLst/>
          </a:prstGeom>
          <a:solidFill>
            <a:srgbClr val="00206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4" name="Text 2"/>
          <p:cNvSpPr/>
          <p:nvPr/>
        </p:nvSpPr>
        <p:spPr>
          <a:xfrm>
            <a:off x="146304" y="114300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</a:rPr>
              <a:t>End-to-End Data Science Workflow — Weeks 1 to 4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01752" y="946409"/>
            <a:ext cx="2029968" cy="4043931"/>
          </a:xfrm>
          <a:prstGeom prst="rect">
            <a:avLst/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256032" y="896112"/>
            <a:ext cx="2029968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347472" y="905256"/>
            <a:ext cx="184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Week 1</a:t>
            </a:r>
            <a:endParaRPr lang="en-US" sz="11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Foundations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47472" y="148132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028090"/>
                </a:solidFill>
              </a:rPr>
              <a:t>Scripts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47472" y="1737360"/>
            <a:ext cx="1847088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508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20624" y="1764792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A5568"/>
                </a:solidFill>
              </a:rPr>
              <a:t>DS1: Statistical Baseline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47472" y="2121408"/>
            <a:ext cx="1847088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508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420624" y="2148840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A5568"/>
                </a:solidFill>
              </a:rPr>
              <a:t>DS2: Hypothesis Testing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47472" y="2505456"/>
            <a:ext cx="1847088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508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420624" y="2532888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A5568"/>
                </a:solidFill>
              </a:rPr>
              <a:t>DS3: Distribution Analysis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56616" y="3370217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028090"/>
                </a:solidFill>
              </a:rPr>
              <a:t>Key Outputs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56616" y="367000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850" dirty="0">
                <a:solidFill>
                  <a:srgbClr val="4A5568"/>
                </a:solidFill>
              </a:rPr>
              <a:t>→  APMS prevalence map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65760" y="3948571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850" dirty="0">
                <a:solidFill>
                  <a:srgbClr val="4A5568"/>
                </a:solidFill>
              </a:rPr>
              <a:t>→  Hypo test CSV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56616" y="422452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850" dirty="0">
                <a:solidFill>
                  <a:srgbClr val="4A5568"/>
                </a:solidFill>
              </a:rPr>
              <a:t>→  5 distribution PNGs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286000" y="2926080"/>
            <a:ext cx="146304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2423160" y="905255"/>
            <a:ext cx="2029968" cy="4078553"/>
          </a:xfrm>
          <a:prstGeom prst="rect">
            <a:avLst/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432304" y="896112"/>
            <a:ext cx="2029968" cy="50292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2523744" y="905256"/>
            <a:ext cx="184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Week 2</a:t>
            </a:r>
            <a:endParaRPr lang="en-US" sz="11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Modelling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523744" y="148132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1B2F5E"/>
                </a:solidFill>
              </a:rPr>
              <a:t>Scripts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505456" y="1723644"/>
            <a:ext cx="1847088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508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2596896" y="1764792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A5568"/>
                </a:solidFill>
              </a:rPr>
              <a:t>DS1: Regression (GAD)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523744" y="2121408"/>
            <a:ext cx="1847088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508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596896" y="2148840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A5568"/>
                </a:solidFill>
              </a:rPr>
              <a:t>DS2: Clustering (K-Means)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523744" y="2505456"/>
            <a:ext cx="1847088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508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2596896" y="2532888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A5568"/>
                </a:solidFill>
              </a:rPr>
              <a:t>DS3: Temporal </a:t>
            </a:r>
            <a:r>
              <a:rPr lang="en-US" sz="850" dirty="0">
                <a:solidFill>
                  <a:schemeClr val="accent6">
                    <a:lumMod val="75000"/>
                  </a:schemeClr>
                </a:solidFill>
              </a:rPr>
              <a:t>Detection</a:t>
            </a:r>
          </a:p>
        </p:txBody>
      </p:sp>
      <p:sp>
        <p:nvSpPr>
          <p:cNvPr id="30" name="Text 28"/>
          <p:cNvSpPr/>
          <p:nvPr/>
        </p:nvSpPr>
        <p:spPr>
          <a:xfrm>
            <a:off x="2514600" y="3374136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1B2F5E"/>
                </a:solidFill>
              </a:rPr>
              <a:t>Key Outputs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2505456" y="3666089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850" dirty="0">
                <a:solidFill>
                  <a:srgbClr val="4A5568"/>
                </a:solidFill>
              </a:rPr>
              <a:t>→  Regression R²=0.46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2505456" y="3923429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850" dirty="0">
                <a:solidFill>
                  <a:srgbClr val="4A5568"/>
                </a:solidFill>
              </a:rPr>
              <a:t>→  6 patient segments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523744" y="422093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850" dirty="0">
                <a:solidFill>
                  <a:srgbClr val="4A5568"/>
                </a:solidFill>
              </a:rPr>
              <a:t>→  Chow test breakpoints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462272" y="2926080"/>
            <a:ext cx="146304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4617720" y="914729"/>
            <a:ext cx="2029968" cy="4069080"/>
          </a:xfrm>
          <a:prstGeom prst="rect">
            <a:avLst/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4608576" y="896112"/>
            <a:ext cx="2029968" cy="502920"/>
          </a:xfrm>
          <a:prstGeom prst="rect">
            <a:avLst/>
          </a:prstGeom>
          <a:solidFill>
            <a:srgbClr val="5B6EAE"/>
          </a:solidFill>
          <a:ln w="12700">
            <a:solidFill>
              <a:srgbClr val="5B6EA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4700016" y="905256"/>
            <a:ext cx="184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Week 3</a:t>
            </a:r>
            <a:endParaRPr lang="en-US" sz="11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Forecasting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700016" y="148132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5B6EAE"/>
                </a:solidFill>
              </a:rPr>
              <a:t>Scripts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700016" y="1737360"/>
            <a:ext cx="1847088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508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4773168" y="1764792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A5568"/>
                </a:solidFill>
              </a:rPr>
              <a:t>DS1: IAPT Forecasting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700016" y="2121408"/>
            <a:ext cx="1847088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508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4773168" y="2148840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A5568"/>
                </a:solidFill>
              </a:rPr>
              <a:t>DS2: Anomaly Detection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700016" y="2505456"/>
            <a:ext cx="1847088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508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4" name="Text 42"/>
          <p:cNvSpPr/>
          <p:nvPr/>
        </p:nvSpPr>
        <p:spPr>
          <a:xfrm>
            <a:off x="4773168" y="2532888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A5568"/>
                </a:solidFill>
              </a:rPr>
              <a:t>DS3: Geo-Spatial IMD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4700016" y="3384423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5B6EAE"/>
                </a:solidFill>
              </a:rPr>
              <a:t>Key Outputs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4727448" y="364486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850" dirty="0">
                <a:solidFill>
                  <a:srgbClr val="4A5568"/>
                </a:solidFill>
              </a:rPr>
              <a:t>→  Prophet 3-month forecast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4718304" y="3923429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850" dirty="0">
                <a:solidFill>
                  <a:srgbClr val="4A5568"/>
                </a:solidFill>
              </a:rPr>
              <a:t>→  5% CCG anomaly rate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4709160" y="422093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850" dirty="0">
                <a:solidFill>
                  <a:srgbClr val="4A5568"/>
                </a:solidFill>
              </a:rPr>
              <a:t>→  7 underserved ICBs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6638544" y="2926080"/>
            <a:ext cx="146304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Shape 48"/>
          <p:cNvSpPr/>
          <p:nvPr/>
        </p:nvSpPr>
        <p:spPr>
          <a:xfrm>
            <a:off x="6775704" y="921260"/>
            <a:ext cx="2029968" cy="4069080"/>
          </a:xfrm>
          <a:prstGeom prst="rect">
            <a:avLst/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1" name="Shape 49"/>
          <p:cNvSpPr/>
          <p:nvPr/>
        </p:nvSpPr>
        <p:spPr>
          <a:xfrm>
            <a:off x="6784848" y="896112"/>
            <a:ext cx="2029968" cy="502920"/>
          </a:xfrm>
          <a:prstGeom prst="rect">
            <a:avLst/>
          </a:prstGeom>
          <a:solidFill>
            <a:srgbClr val="276749"/>
          </a:solidFill>
          <a:ln w="12700">
            <a:solidFill>
              <a:srgbClr val="27674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6876288" y="905256"/>
            <a:ext cx="184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Week 4</a:t>
            </a:r>
            <a:endParaRPr lang="en-US" sz="11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Reproducibility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6876288" y="148132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276749"/>
                </a:solidFill>
              </a:rPr>
              <a:t>Scripts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6876288" y="1737360"/>
            <a:ext cx="1847088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508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3"/>
          <p:cNvSpPr/>
          <p:nvPr/>
        </p:nvSpPr>
        <p:spPr>
          <a:xfrm>
            <a:off x="6949440" y="1764792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A5568"/>
                </a:solidFill>
              </a:rPr>
              <a:t>DS1: Full Pipeline Run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6876288" y="2121408"/>
            <a:ext cx="1847088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508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Text 55"/>
          <p:cNvSpPr/>
          <p:nvPr/>
        </p:nvSpPr>
        <p:spPr>
          <a:xfrm>
            <a:off x="6949440" y="2148840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A5568"/>
                </a:solidFill>
              </a:rPr>
              <a:t>DS2: MHSDS Integration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6876288" y="342883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276749"/>
                </a:solidFill>
              </a:rPr>
              <a:t>Key Outputs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6876288" y="367000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850" dirty="0">
                <a:solidFill>
                  <a:srgbClr val="4A5568"/>
                </a:solidFill>
              </a:rPr>
              <a:t>→  All 9 scripts: pass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6876288" y="3923101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850" dirty="0">
                <a:solidFill>
                  <a:srgbClr val="4A5568"/>
                </a:solidFill>
              </a:rPr>
              <a:t>→  771K MHSDS rows loaded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6885432" y="422093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850" dirty="0">
                <a:solidFill>
                  <a:srgbClr val="4A5568"/>
                </a:solidFill>
              </a:rPr>
              <a:t>→  End-to-end 57s</a:t>
            </a:r>
            <a:endParaRPr lang="en-US" sz="850" dirty="0"/>
          </a:p>
        </p:txBody>
      </p:sp>
      <p:sp>
        <p:nvSpPr>
          <p:cNvPr id="3" name="Shape 11">
            <a:extLst>
              <a:ext uri="{FF2B5EF4-FFF2-40B4-BE49-F238E27FC236}">
                <a16:creationId xmlns:a16="http://schemas.microsoft.com/office/drawing/2014/main" id="{FD15AE34-3057-4BF8-F1EB-F7DB9265AB1D}"/>
              </a:ext>
            </a:extLst>
          </p:cNvPr>
          <p:cNvSpPr/>
          <p:nvPr/>
        </p:nvSpPr>
        <p:spPr>
          <a:xfrm>
            <a:off x="338328" y="2907463"/>
            <a:ext cx="1847088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5080">
            <a:solidFill>
              <a:srgbClr val="D1D5DB"/>
            </a:solidFill>
            <a:prstDash val="solid"/>
          </a:ln>
        </p:spPr>
        <p:txBody>
          <a:bodyPr/>
          <a:lstStyle/>
          <a:p>
            <a:r>
              <a:rPr lang="en-US" sz="850" dirty="0">
                <a:solidFill>
                  <a:srgbClr val="4A5568"/>
                </a:solidFill>
              </a:rPr>
              <a:t>DS4: </a:t>
            </a:r>
            <a:r>
              <a:rPr lang="en-IN" sz="850" dirty="0"/>
              <a:t>Data documentation</a:t>
            </a:r>
            <a:endParaRPr lang="en-US" sz="850" dirty="0"/>
          </a:p>
        </p:txBody>
      </p:sp>
      <p:sp>
        <p:nvSpPr>
          <p:cNvPr id="62" name="Shape 11">
            <a:extLst>
              <a:ext uri="{FF2B5EF4-FFF2-40B4-BE49-F238E27FC236}">
                <a16:creationId xmlns:a16="http://schemas.microsoft.com/office/drawing/2014/main" id="{A750C569-32E1-4250-C378-BCFA8A234F74}"/>
              </a:ext>
            </a:extLst>
          </p:cNvPr>
          <p:cNvSpPr/>
          <p:nvPr/>
        </p:nvSpPr>
        <p:spPr>
          <a:xfrm>
            <a:off x="2514600" y="2907463"/>
            <a:ext cx="1847088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5080">
            <a:solidFill>
              <a:srgbClr val="D1D5DB"/>
            </a:solidFill>
            <a:prstDash val="solid"/>
          </a:ln>
        </p:spPr>
        <p:txBody>
          <a:bodyPr/>
          <a:lstStyle/>
          <a:p>
            <a:r>
              <a:rPr lang="en-US" sz="1000" dirty="0">
                <a:solidFill>
                  <a:srgbClr val="4A5568"/>
                </a:solidFill>
              </a:rPr>
              <a:t>DS4: </a:t>
            </a:r>
            <a:r>
              <a:rPr lang="en-IN" sz="850" dirty="0">
                <a:solidFill>
                  <a:schemeClr val="accent6">
                    <a:lumMod val="50000"/>
                  </a:schemeClr>
                </a:solidFill>
              </a:rPr>
              <a:t>Model interpretability</a:t>
            </a:r>
            <a:endParaRPr lang="en-US" sz="85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63" name="Shape 41">
            <a:extLst>
              <a:ext uri="{FF2B5EF4-FFF2-40B4-BE49-F238E27FC236}">
                <a16:creationId xmlns:a16="http://schemas.microsoft.com/office/drawing/2014/main" id="{0B6BA3AC-C20C-59CA-E567-58EDCE600236}"/>
              </a:ext>
            </a:extLst>
          </p:cNvPr>
          <p:cNvSpPr/>
          <p:nvPr/>
        </p:nvSpPr>
        <p:spPr>
          <a:xfrm>
            <a:off x="4690872" y="2920448"/>
            <a:ext cx="1847088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5080">
            <a:solidFill>
              <a:srgbClr val="D1D5DB"/>
            </a:solidFill>
            <a:prstDash val="solid"/>
          </a:ln>
        </p:spPr>
        <p:txBody>
          <a:bodyPr/>
          <a:lstStyle/>
          <a:p>
            <a:r>
              <a:rPr lang="en-US" sz="850" dirty="0">
                <a:solidFill>
                  <a:srgbClr val="4A5568"/>
                </a:solidFill>
              </a:rPr>
              <a:t>DS4: </a:t>
            </a:r>
            <a:r>
              <a:rPr lang="en-IN" sz="850" dirty="0">
                <a:solidFill>
                  <a:schemeClr val="accent6">
                    <a:lumMod val="50000"/>
                  </a:schemeClr>
                </a:solidFill>
              </a:rPr>
              <a:t>DS pipeline documentation</a:t>
            </a:r>
            <a:endParaRPr lang="en-US" sz="850" dirty="0">
              <a:solidFill>
                <a:schemeClr val="accent6">
                  <a:lumMod val="50000"/>
                </a:schemeClr>
              </a:solidFill>
            </a:endParaRPr>
          </a:p>
          <a:p>
            <a:endParaRPr lang="en-IN" sz="850" dirty="0"/>
          </a:p>
        </p:txBody>
      </p:sp>
      <p:sp>
        <p:nvSpPr>
          <p:cNvPr id="64" name="Shape 41">
            <a:extLst>
              <a:ext uri="{FF2B5EF4-FFF2-40B4-BE49-F238E27FC236}">
                <a16:creationId xmlns:a16="http://schemas.microsoft.com/office/drawing/2014/main" id="{DD60E48F-7D8E-E221-BBDF-CABE75647692}"/>
              </a:ext>
            </a:extLst>
          </p:cNvPr>
          <p:cNvSpPr/>
          <p:nvPr/>
        </p:nvSpPr>
        <p:spPr>
          <a:xfrm>
            <a:off x="6858000" y="2534521"/>
            <a:ext cx="1847088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5080">
            <a:solidFill>
              <a:srgbClr val="D1D5DB"/>
            </a:solidFill>
            <a:prstDash val="solid"/>
          </a:ln>
        </p:spPr>
        <p:txBody>
          <a:bodyPr/>
          <a:lstStyle/>
          <a:p>
            <a:r>
              <a:rPr lang="en-US" sz="850" dirty="0">
                <a:solidFill>
                  <a:srgbClr val="4A5568"/>
                </a:solidFill>
              </a:rPr>
              <a:t>DS3: </a:t>
            </a:r>
            <a:r>
              <a:rPr lang="en-IN" sz="850" dirty="0"/>
              <a:t>NHS methodology compliance</a:t>
            </a:r>
            <a:endParaRPr lang="en-US" sz="850" dirty="0"/>
          </a:p>
        </p:txBody>
      </p:sp>
      <p:sp>
        <p:nvSpPr>
          <p:cNvPr id="65" name="Shape 41">
            <a:extLst>
              <a:ext uri="{FF2B5EF4-FFF2-40B4-BE49-F238E27FC236}">
                <a16:creationId xmlns:a16="http://schemas.microsoft.com/office/drawing/2014/main" id="{0102D920-0D0B-5C9C-A36C-4C5633B87D0C}"/>
              </a:ext>
            </a:extLst>
          </p:cNvPr>
          <p:cNvSpPr/>
          <p:nvPr/>
        </p:nvSpPr>
        <p:spPr>
          <a:xfrm>
            <a:off x="6885432" y="2918569"/>
            <a:ext cx="1847088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5080">
            <a:solidFill>
              <a:srgbClr val="D1D5DB"/>
            </a:solidFill>
            <a:prstDash val="solid"/>
          </a:ln>
        </p:spPr>
        <p:txBody>
          <a:bodyPr/>
          <a:lstStyle/>
          <a:p>
            <a:r>
              <a:rPr lang="en-US" sz="850" dirty="0">
                <a:solidFill>
                  <a:srgbClr val="4A5568"/>
                </a:solidFill>
              </a:rPr>
              <a:t>DS4: </a:t>
            </a:r>
            <a:r>
              <a:rPr lang="en-IN" sz="850" dirty="0"/>
              <a:t>Demo</a:t>
            </a:r>
            <a:endParaRPr lang="en-US" sz="850" dirty="0"/>
          </a:p>
          <a:p>
            <a:endParaRPr lang="en-IN" sz="850" dirty="0"/>
          </a:p>
        </p:txBody>
      </p:sp>
    </p:spTree>
  </p:cSld>
  <p:clrMapOvr>
    <a:masterClrMapping/>
  </p:clrMapOvr>
  <p:transition spd="slow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016" y="0"/>
            <a:ext cx="9144000" cy="7772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4" name="Text 2"/>
          <p:cNvSpPr/>
          <p:nvPr/>
        </p:nvSpPr>
        <p:spPr>
          <a:xfrm>
            <a:off x="137160" y="166271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2400" dirty="0">
                <a:solidFill>
                  <a:schemeClr val="bg1">
                    <a:lumMod val="85000"/>
                  </a:schemeClr>
                </a:solidFill>
              </a:rPr>
              <a:t>Statistical Baseline Model</a:t>
            </a:r>
            <a:r>
              <a:rPr lang="en-US" sz="2400" dirty="0">
                <a:solidFill>
                  <a:schemeClr val="bg1">
                    <a:lumMod val="85000"/>
                  </a:schemeClr>
                </a:solidFill>
              </a:rPr>
              <a:t> </a:t>
            </a:r>
          </a:p>
        </p:txBody>
      </p:sp>
      <p:sp>
        <p:nvSpPr>
          <p:cNvPr id="5" name="Shape 3"/>
          <p:cNvSpPr/>
          <p:nvPr/>
        </p:nvSpPr>
        <p:spPr>
          <a:xfrm>
            <a:off x="0" y="790299"/>
            <a:ext cx="2377440" cy="4361688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146239" y="2283085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b="1" kern="0" spc="200" dirty="0">
                <a:solidFill>
                  <a:srgbClr val="02C39A"/>
                </a:solidFill>
              </a:rPr>
              <a:t>Dataset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37160" y="2505981"/>
            <a:ext cx="16132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APMS 2014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7160" y="2788083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2C39A"/>
                </a:solidFill>
              </a:rPr>
              <a:t>9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6239" y="3025003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0C4D8"/>
                </a:solidFill>
              </a:rPr>
              <a:t>Disorders analysed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37160" y="3279595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2C39A"/>
                </a:solidFill>
              </a:rPr>
              <a:t>9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46239" y="347249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0C4D8"/>
                </a:solidFill>
              </a:rPr>
              <a:t>Place in UK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7160" y="3727551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2C39A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7160" y="38954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0C4D8"/>
                </a:solidFill>
              </a:rPr>
              <a:t>Sex groups (Male ,Female and All)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37160" y="4131401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2C39A"/>
                </a:solidFill>
              </a:rPr>
              <a:t>Wilson CI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" y="4402219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0C4D8"/>
                </a:solidFill>
              </a:rPr>
              <a:t>Confidence method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7160" y="4605961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2C39A"/>
                </a:solidFill>
              </a:rPr>
              <a:t>Z-score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7160" y="484697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0C4D8"/>
                </a:solidFill>
              </a:rPr>
              <a:t>Composite burden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37160" y="1264658"/>
            <a:ext cx="2377440" cy="89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C00000"/>
                </a:solidFill>
              </a:rPr>
              <a:t>Top burden: London · East Of England</a:t>
            </a:r>
          </a:p>
          <a:p>
            <a:pPr>
              <a:lnSpc>
                <a:spcPct val="130000"/>
              </a:lnSpc>
            </a:pPr>
            <a:r>
              <a:rPr lang="en-US" sz="1050" dirty="0">
                <a:solidFill>
                  <a:srgbClr val="FCD34D"/>
                </a:solidFill>
              </a:rPr>
              <a:t>Avg : West Midlands ·  Yorkshire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00FF00"/>
                </a:solidFill>
              </a:rPr>
              <a:t>Lowest burden: </a:t>
            </a:r>
            <a:r>
              <a:rPr lang="en-US" sz="1050" dirty="0" err="1">
                <a:solidFill>
                  <a:srgbClr val="00FF00"/>
                </a:solidFill>
              </a:rPr>
              <a:t>SouthWest</a:t>
            </a:r>
            <a:r>
              <a:rPr lang="en-US" sz="1050" dirty="0">
                <a:solidFill>
                  <a:srgbClr val="00FF00"/>
                </a:solidFill>
              </a:rPr>
              <a:t> · </a:t>
            </a:r>
            <a:r>
              <a:rPr lang="en-US" sz="1050" dirty="0" err="1">
                <a:solidFill>
                  <a:srgbClr val="00FF00"/>
                </a:solidFill>
              </a:rPr>
              <a:t>SouthEast</a:t>
            </a:r>
            <a:endParaRPr lang="en-US" sz="1050" dirty="0">
              <a:solidFill>
                <a:srgbClr val="00FF00"/>
              </a:solidFill>
            </a:endParaRPr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377440" y="783770"/>
            <a:ext cx="6779576" cy="4361687"/>
          </a:xfrm>
          <a:prstGeom prst="rect">
            <a:avLst/>
          </a:prstGeom>
        </p:spPr>
      </p:pic>
      <p:sp>
        <p:nvSpPr>
          <p:cNvPr id="23" name="Text 4">
            <a:extLst>
              <a:ext uri="{FF2B5EF4-FFF2-40B4-BE49-F238E27FC236}">
                <a16:creationId xmlns:a16="http://schemas.microsoft.com/office/drawing/2014/main" id="{443796D7-3507-A0B3-7D42-0003C473CC7F}"/>
              </a:ext>
            </a:extLst>
          </p:cNvPr>
          <p:cNvSpPr/>
          <p:nvPr/>
        </p:nvSpPr>
        <p:spPr>
          <a:xfrm>
            <a:off x="137160" y="825008"/>
            <a:ext cx="2377440" cy="5257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kern="0" spc="200" dirty="0">
                <a:solidFill>
                  <a:srgbClr val="02C39A"/>
                </a:solidFill>
              </a:rPr>
              <a:t>Output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143038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2400" dirty="0">
                <a:solidFill>
                  <a:schemeClr val="bg1"/>
                </a:solidFill>
              </a:rPr>
              <a:t>Hypothesis Testing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365760" y="8686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4A5568"/>
                </a:solidFill>
              </a:rPr>
              <a:t>Three null hypotheses tested on APMS 2014 CMD data (7 age groups, 9 regions):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20040" y="1234440"/>
            <a:ext cx="850392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320040" y="1234440"/>
            <a:ext cx="64008" cy="1097280"/>
          </a:xfrm>
          <a:prstGeom prst="rect">
            <a:avLst/>
          </a:prstGeom>
          <a:solidFill>
            <a:srgbClr val="002060"/>
          </a:solidFill>
          <a:ln w="12700">
            <a:solidFill>
              <a:srgbClr val="00206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7132320" y="1371600"/>
            <a:ext cx="1600200" cy="347472"/>
          </a:xfrm>
          <a:prstGeom prst="roundRect">
            <a:avLst>
              <a:gd name="adj" fmla="val 21053"/>
            </a:avLst>
          </a:prstGeom>
          <a:solidFill>
            <a:srgbClr val="FEE2E2"/>
          </a:solidFill>
          <a:ln w="1016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7132320" y="139903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0392B"/>
                </a:solidFill>
              </a:rPr>
              <a:t>REJECT H₀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1307592"/>
            <a:ext cx="6492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B2F5E"/>
                </a:solidFill>
              </a:rPr>
              <a:t>H₀: No association between gender and CMD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02920" y="1600200"/>
            <a:ext cx="6492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A5568"/>
                </a:solidFill>
              </a:rPr>
              <a:t>Chi-square  ·  χ²= 69.28  ·  p &lt; 0.001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185623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dirty="0">
                <a:solidFill>
                  <a:srgbClr val="374151"/>
                </a:solidFill>
              </a:rPr>
              <a:t>→  Women are significantly more likely to have CMD than men at every age group.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0040" y="2468880"/>
            <a:ext cx="850392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320040" y="2468880"/>
            <a:ext cx="64008" cy="1097280"/>
          </a:xfrm>
          <a:prstGeom prst="rect">
            <a:avLst/>
          </a:prstGeom>
          <a:solidFill>
            <a:srgbClr val="002060"/>
          </a:solidFill>
          <a:ln w="12700">
            <a:solidFill>
              <a:srgbClr val="00206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7132320" y="2606040"/>
            <a:ext cx="1600200" cy="347472"/>
          </a:xfrm>
          <a:prstGeom prst="roundRect">
            <a:avLst>
              <a:gd name="adj" fmla="val 21053"/>
            </a:avLst>
          </a:prstGeom>
          <a:solidFill>
            <a:srgbClr val="FEE2E2"/>
          </a:solidFill>
          <a:ln w="1016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7132320" y="26334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0392B"/>
                </a:solidFill>
              </a:rPr>
              <a:t>REJECT H₀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2920" y="2542032"/>
            <a:ext cx="6492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B2F5E"/>
                </a:solidFill>
              </a:rPr>
              <a:t>H₀: No association between age group and CMD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02920" y="2834640"/>
            <a:ext cx="6492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A5568"/>
                </a:solidFill>
              </a:rPr>
              <a:t>Chi-square  ·  χ²= 100.54  ·  p &lt; 0.001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2920" y="309067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dirty="0">
                <a:solidFill>
                  <a:srgbClr val="374151"/>
                </a:solidFill>
              </a:rPr>
              <a:t>→  CMD prevalence varies significantly by age — peak at 25–34 for women, 25–34 for men.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0040" y="3703320"/>
            <a:ext cx="850392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320040" y="3703320"/>
            <a:ext cx="64008" cy="1097280"/>
          </a:xfrm>
          <a:prstGeom prst="rect">
            <a:avLst/>
          </a:prstGeom>
          <a:solidFill>
            <a:srgbClr val="002060"/>
          </a:solidFill>
          <a:ln w="12700">
            <a:solidFill>
              <a:srgbClr val="002060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22" name="Shape 20"/>
          <p:cNvSpPr/>
          <p:nvPr/>
        </p:nvSpPr>
        <p:spPr>
          <a:xfrm>
            <a:off x="7132320" y="3840480"/>
            <a:ext cx="1600200" cy="347472"/>
          </a:xfrm>
          <a:prstGeom prst="roundRect">
            <a:avLst>
              <a:gd name="adj" fmla="val 21053"/>
            </a:avLst>
          </a:prstGeom>
          <a:solidFill>
            <a:srgbClr val="FEE2E2"/>
          </a:solidFill>
          <a:ln w="1016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7132320" y="386791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0392B"/>
                </a:solidFill>
              </a:rPr>
              <a:t>REJECT H₀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02920" y="3776472"/>
            <a:ext cx="6492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B2F5E"/>
                </a:solidFill>
              </a:rPr>
              <a:t>H₀: Male and female CMD rates are equal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02920" y="4069080"/>
            <a:ext cx="6492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A5568"/>
                </a:solidFill>
              </a:rPr>
              <a:t>Independent t-test  ·  t = −2.81  ·  p = 0.016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02920" y="432511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dirty="0">
                <a:solidFill>
                  <a:srgbClr val="374151"/>
                </a:solidFill>
              </a:rPr>
              <a:t>→  Female CMD rates are 8–10 percentage points higher than male rates across all age bands.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ABBB6-C153-9DFE-B0A2-F21D05EDB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963BA54-7FF9-94A2-2C19-9FBF2D14751E}"/>
              </a:ext>
            </a:extLst>
          </p:cNvPr>
          <p:cNvSpPr/>
          <p:nvPr/>
        </p:nvSpPr>
        <p:spPr>
          <a:xfrm>
            <a:off x="13016" y="0"/>
            <a:ext cx="9144000" cy="7772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304D021-8F90-7B72-DA62-2C2B38E4D2D8}"/>
              </a:ext>
            </a:extLst>
          </p:cNvPr>
          <p:cNvSpPr/>
          <p:nvPr/>
        </p:nvSpPr>
        <p:spPr>
          <a:xfrm>
            <a:off x="137160" y="136328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2400" dirty="0">
                <a:solidFill>
                  <a:schemeClr val="bg1"/>
                </a:solidFill>
              </a:rPr>
              <a:t>Distribution Analysis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72138D8-3AB5-0D90-883C-7AFF53EC8343}"/>
              </a:ext>
            </a:extLst>
          </p:cNvPr>
          <p:cNvSpPr/>
          <p:nvPr/>
        </p:nvSpPr>
        <p:spPr>
          <a:xfrm>
            <a:off x="0" y="744398"/>
            <a:ext cx="2377440" cy="4399101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4D9B452-22F2-BD9A-8AA3-979A6BA6C671}"/>
              </a:ext>
            </a:extLst>
          </p:cNvPr>
          <p:cNvSpPr/>
          <p:nvPr/>
        </p:nvSpPr>
        <p:spPr>
          <a:xfrm>
            <a:off x="137160" y="1264658"/>
            <a:ext cx="2377440" cy="89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endParaRPr lang="en-US" sz="1050" dirty="0">
              <a:solidFill>
                <a:srgbClr val="00FF00"/>
              </a:solidFill>
            </a:endParaRPr>
          </a:p>
        </p:txBody>
      </p:sp>
      <p:sp>
        <p:nvSpPr>
          <p:cNvPr id="23" name="Text 4">
            <a:extLst>
              <a:ext uri="{FF2B5EF4-FFF2-40B4-BE49-F238E27FC236}">
                <a16:creationId xmlns:a16="http://schemas.microsoft.com/office/drawing/2014/main" id="{080CA671-A3C9-F9C4-DF6D-4489EE28CCE8}"/>
              </a:ext>
            </a:extLst>
          </p:cNvPr>
          <p:cNvSpPr/>
          <p:nvPr/>
        </p:nvSpPr>
        <p:spPr>
          <a:xfrm>
            <a:off x="137160" y="825008"/>
            <a:ext cx="2377440" cy="5257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kern="0" spc="200" dirty="0">
                <a:solidFill>
                  <a:srgbClr val="02C39A"/>
                </a:solidFill>
              </a:rPr>
              <a:t>Output</a:t>
            </a:r>
            <a:endParaRPr lang="en-US" sz="14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BD0FE2FB-6AA1-21CA-169E-7C66B13E0D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3948" y="733383"/>
            <a:ext cx="6766560" cy="2188718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658D3F34-529F-7FFD-A973-976F75F3E2C2}"/>
              </a:ext>
            </a:extLst>
          </p:cNvPr>
          <p:cNvSpPr txBox="1"/>
          <p:nvPr/>
        </p:nvSpPr>
        <p:spPr>
          <a:xfrm>
            <a:off x="0" y="1243934"/>
            <a:ext cx="237744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AutoNum type="arabicPeriod"/>
            </a:pPr>
            <a:r>
              <a:rPr lang="en-IN" sz="900" dirty="0">
                <a:solidFill>
                  <a:schemeClr val="bg1">
                    <a:lumMod val="65000"/>
                  </a:schemeClr>
                </a:solidFill>
              </a:rPr>
              <a:t>DISTRIBUTION SHAPE </a:t>
            </a:r>
          </a:p>
          <a:p>
            <a:r>
              <a:rPr lang="en-IN" sz="900" dirty="0">
                <a:solidFill>
                  <a:schemeClr val="bg1">
                    <a:lumMod val="65000"/>
                  </a:schemeClr>
                </a:solidFill>
              </a:rPr>
              <a:t>	CIS-R is strongly right-skewed. 	Log-Normal fits better than Normal. </a:t>
            </a:r>
          </a:p>
          <a:p>
            <a:endParaRPr lang="en-IN" sz="90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en-IN" sz="900" dirty="0">
                <a:solidFill>
                  <a:schemeClr val="bg1">
                    <a:lumMod val="85000"/>
                  </a:schemeClr>
                </a:solidFill>
              </a:rPr>
              <a:t>2. SEX DIFFERENCES </a:t>
            </a:r>
          </a:p>
          <a:p>
            <a:endParaRPr lang="en-IN" sz="9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IN" sz="900" dirty="0">
                <a:solidFill>
                  <a:schemeClr val="bg1">
                    <a:lumMod val="85000"/>
                  </a:schemeClr>
                </a:solidFill>
              </a:rPr>
              <a:t>	Men CIS-R ≥12: 12.2% </a:t>
            </a:r>
          </a:p>
          <a:p>
            <a:r>
              <a:rPr lang="en-IN" sz="900" dirty="0">
                <a:solidFill>
                  <a:schemeClr val="bg1">
                    <a:lumMod val="85000"/>
                  </a:schemeClr>
                </a:solidFill>
              </a:rPr>
              <a:t>	Women CIS-R ≥12: 19.1% </a:t>
            </a:r>
          </a:p>
          <a:p>
            <a:endParaRPr lang="en-IN" sz="90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en-IN" sz="900" dirty="0">
                <a:solidFill>
                  <a:schemeClr val="bg1">
                    <a:lumMod val="65000"/>
                  </a:schemeClr>
                </a:solidFill>
              </a:rPr>
              <a:t>3. AGE PATTERN </a:t>
            </a:r>
          </a:p>
          <a:p>
            <a:r>
              <a:rPr lang="en-IN" sz="900" dirty="0">
                <a:solidFill>
                  <a:schemeClr val="bg1">
                    <a:lumMod val="65000"/>
                  </a:schemeClr>
                </a:solidFill>
              </a:rPr>
              <a:t>	Age 16–24: 17.3% score CIS-R ≥12 	Age 45–54: 18.0% score CIS-R ≥12 	Age 75+: 8.0% score CIS-R ≥12 </a:t>
            </a:r>
          </a:p>
          <a:p>
            <a:endParaRPr lang="en-IN" sz="90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en-IN" sz="900" dirty="0">
                <a:solidFill>
                  <a:schemeClr val="bg1">
                    <a:lumMod val="85000"/>
                  </a:schemeClr>
                </a:solidFill>
              </a:rPr>
              <a:t>4. HIGHEST RISK SEGMENTS (Any CMD) 	Smokes 15+/day : 33.2% </a:t>
            </a:r>
          </a:p>
          <a:p>
            <a:r>
              <a:rPr lang="en-IN" sz="900" dirty="0">
                <a:solidFill>
                  <a:schemeClr val="bg1">
                    <a:lumMod val="85000"/>
                  </a:schemeClr>
                </a:solidFill>
              </a:rPr>
              <a:t>	Econ. Inactive : 30.3% </a:t>
            </a:r>
          </a:p>
          <a:p>
            <a:r>
              <a:rPr lang="en-IN" sz="900" dirty="0">
                <a:solidFill>
                  <a:schemeClr val="bg1">
                    <a:lumMod val="85000"/>
                  </a:schemeClr>
                </a:solidFill>
              </a:rPr>
              <a:t>	Unemployed : 25.2% </a:t>
            </a:r>
          </a:p>
          <a:p>
            <a:r>
              <a:rPr lang="en-IN" sz="900" dirty="0">
                <a:solidFill>
                  <a:schemeClr val="bg1">
                    <a:lumMod val="85000"/>
                  </a:schemeClr>
                </a:solidFill>
              </a:rPr>
              <a:t>	Black/Black Br. : 24.0% </a:t>
            </a:r>
          </a:p>
          <a:p>
            <a:r>
              <a:rPr lang="en-IN" sz="900" dirty="0">
                <a:solidFill>
                  <a:schemeClr val="bg1">
                    <a:lumMod val="85000"/>
                  </a:schemeClr>
                </a:solidFill>
              </a:rPr>
              <a:t>	Women : 19.1 . </a:t>
            </a:r>
          </a:p>
          <a:p>
            <a:endParaRPr lang="en-IN" sz="90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en-IN" sz="900" dirty="0">
                <a:solidFill>
                  <a:schemeClr val="bg1">
                    <a:lumMod val="65000"/>
                  </a:schemeClr>
                </a:solidFill>
              </a:rPr>
              <a:t>6. TEMPORAL TREND </a:t>
            </a:r>
          </a:p>
          <a:p>
            <a:pPr algn="ctr"/>
            <a:r>
              <a:rPr lang="en-IN" sz="900" dirty="0">
                <a:solidFill>
                  <a:schemeClr val="bg1">
                    <a:lumMod val="65000"/>
                  </a:schemeClr>
                </a:solidFill>
              </a:rPr>
              <a:t>       Women: 17.7% (1993) → 21.4%[+3.7 pp] Men: 10.5% (1993) → 13.6%[+3.1 pp] </a:t>
            </a:r>
          </a:p>
          <a:p>
            <a:r>
              <a:rPr lang="en-IN" sz="900" dirty="0">
                <a:solidFill>
                  <a:schemeClr val="bg1">
                    <a:lumMod val="65000"/>
                  </a:schemeClr>
                </a:solidFill>
              </a:rPr>
              <a:t>       Sex gap has widened over 20 years.</a:t>
            </a:r>
            <a:endParaRPr lang="en-US" sz="900" dirty="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4F6BBDFE-E9D2-C25A-A0C1-4A3EB07787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3950" y="3122023"/>
            <a:ext cx="3337582" cy="2021477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E307AEE0-34B5-1997-1A53-7B823A904D06}"/>
              </a:ext>
            </a:extLst>
          </p:cNvPr>
          <p:cNvSpPr txBox="1"/>
          <p:nvPr/>
        </p:nvSpPr>
        <p:spPr>
          <a:xfrm>
            <a:off x="2383950" y="2870595"/>
            <a:ext cx="38992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900" b="1" dirty="0"/>
              <a:t>QQ Plot – CIS-R Score Distribution vs Theoretical Distribution </a:t>
            </a:r>
          </a:p>
          <a:p>
            <a:pPr algn="ctr"/>
            <a:endParaRPr lang="en-IN" sz="1100" b="1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9C98C58E-C5F0-2250-13B9-FAE1205A24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1532" y="3122022"/>
            <a:ext cx="3415958" cy="2021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21959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201168" y="141732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</a:rPr>
              <a:t>Predicting GAD Score — Linear Regression (PHQ, BMI, Age, Sleep, Gender)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74320" y="868680"/>
            <a:ext cx="2011680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274320" y="868680"/>
            <a:ext cx="2011680" cy="6400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384048" y="97840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28090"/>
                </a:solidFill>
              </a:rPr>
              <a:t>0.458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84048" y="14630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</a:rPr>
              <a:t>R² Score</a:t>
            </a:r>
            <a:endParaRPr lang="en-US" sz="10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</a:rPr>
              <a:t>(test set)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4048" y="182880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94A3B8"/>
                </a:solidFill>
              </a:rPr>
              <a:t>Variance explained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468880" y="868680"/>
            <a:ext cx="2011680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2468880" y="868680"/>
            <a:ext cx="2011680" cy="64008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2578608" y="97840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B2F5E"/>
                </a:solidFill>
              </a:rPr>
              <a:t>0.419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578608" y="14630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</a:rPr>
              <a:t>Adjusted R²</a:t>
            </a:r>
            <a:endParaRPr lang="en-US" sz="10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</a:rPr>
              <a:t>(11 features)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578608" y="182880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94A3B8"/>
                </a:solidFill>
              </a:rPr>
              <a:t>Penalised for complexity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663440" y="868680"/>
            <a:ext cx="2011680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4663440" y="868680"/>
            <a:ext cx="2011680" cy="64008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4773168" y="97840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6B46C1"/>
                </a:solidFill>
              </a:rPr>
              <a:t>9.45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773168" y="14630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</a:rPr>
              <a:t>MSE</a:t>
            </a:r>
            <a:endParaRPr lang="en-US" sz="10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</a:rPr>
              <a:t>(mean sq error)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73168" y="182880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94A3B8"/>
                </a:solidFill>
              </a:rPr>
              <a:t>GAD score units²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858000" y="868680"/>
            <a:ext cx="2011680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6858000" y="868680"/>
            <a:ext cx="201168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6967728" y="97840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C0392B"/>
                </a:solidFill>
              </a:rPr>
              <a:t>PHQ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967728" y="14630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</a:rPr>
              <a:t>Top Predictor</a:t>
            </a:r>
            <a:endParaRPr lang="en-US" sz="10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</a:rPr>
              <a:t>Coeff = +2.93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967728" y="182880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94A3B8"/>
                </a:solidFill>
              </a:rPr>
              <a:t>PHQ score drives GAD</a:t>
            </a:r>
            <a:endParaRPr lang="en-US" sz="850" dirty="0"/>
          </a:p>
        </p:txBody>
      </p:sp>
      <p:pic>
        <p:nvPicPr>
          <p:cNvPr id="2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01168" y="2395728"/>
            <a:ext cx="8595360" cy="26060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30490" y="121485"/>
            <a:ext cx="830797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</a:rPr>
              <a:t>K-Means on PHQ · GAD · BMI · Age · Epworth Sleep Score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31" y="781812"/>
            <a:ext cx="2651760" cy="4361688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137160" y="9144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</a:rPr>
              <a:t>6 Patient Segments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37160" y="11887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A0C4D8"/>
                </a:solidFill>
              </a:rPr>
              <a:t>Silhouette validated · k=6 optimal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128016" y="1618488"/>
            <a:ext cx="128016" cy="274320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301752" y="1532925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FFFF"/>
                </a:solidFill>
              </a:rPr>
              <a:t>C0 - Low-Risk Male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01752" y="1776548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4C7D8"/>
                </a:solidFill>
              </a:rPr>
              <a:t>n=259  ·  Mild / Mild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37160" y="3905135"/>
            <a:ext cx="128016" cy="274320"/>
          </a:xfrm>
          <a:prstGeom prst="rect">
            <a:avLst/>
          </a:prstGeom>
          <a:solidFill>
            <a:srgbClr val="888780"/>
          </a:solidFill>
          <a:ln w="12700">
            <a:solidFill>
              <a:srgbClr val="88878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301752" y="2024089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b="1" dirty="0">
                <a:solidFill>
                  <a:srgbClr val="FFFFFF"/>
                </a:solidFill>
              </a:rPr>
              <a:t>C1 - Obesity-Mild Distress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09414" y="4033483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4C7D8"/>
                </a:solidFill>
              </a:rPr>
              <a:t>n=186  ·  Mild / Mild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31936" y="3041347"/>
            <a:ext cx="128016" cy="274320"/>
          </a:xfrm>
          <a:prstGeom prst="rect">
            <a:avLst/>
          </a:prstGeom>
          <a:solidFill>
            <a:srgbClr val="7F77DD"/>
          </a:solidFill>
          <a:ln w="12700">
            <a:solidFill>
              <a:srgbClr val="7F77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411480" y="434601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39635" y="2722300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4C7D8"/>
                </a:solidFill>
              </a:rPr>
              <a:t>n=167  ·  Mod / Mod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126711" y="2596896"/>
            <a:ext cx="128016" cy="274320"/>
          </a:xfrm>
          <a:prstGeom prst="rect">
            <a:avLst/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8" name="Text 16"/>
          <p:cNvSpPr/>
          <p:nvPr/>
        </p:nvSpPr>
        <p:spPr>
          <a:xfrm>
            <a:off x="320040" y="2515906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b="1" dirty="0">
                <a:solidFill>
                  <a:srgbClr val="FFFFFF"/>
                </a:solidFill>
              </a:rPr>
              <a:t>C2 - Moderate </a:t>
            </a:r>
            <a:r>
              <a:rPr lang="en-US" sz="950" b="1" dirty="0" err="1">
                <a:solidFill>
                  <a:srgbClr val="FFFFFF"/>
                </a:solidFill>
              </a:rPr>
              <a:t>Mixed+Sleep</a:t>
            </a:r>
            <a:r>
              <a:rPr lang="en-US" sz="950" b="1" dirty="0">
                <a:solidFill>
                  <a:srgbClr val="FFFFFF"/>
                </a:solidFill>
              </a:rPr>
              <a:t> 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30490" y="3183418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4C7D8"/>
                </a:solidFill>
              </a:rPr>
              <a:t>n=61  ·  Mild / Mild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124097" y="2107692"/>
            <a:ext cx="128016" cy="27432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330490" y="297375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FFFF"/>
                </a:solidFill>
              </a:rPr>
              <a:t>C3 – Older Adult – Mild Distress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09414" y="2248116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4C7D8"/>
                </a:solidFill>
              </a:rPr>
              <a:t>n=56  ·  Mild / Mild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134547" y="3489415"/>
            <a:ext cx="128016" cy="274320"/>
          </a:xfrm>
          <a:prstGeom prst="rect">
            <a:avLst/>
          </a:prstGeom>
          <a:solidFill>
            <a:srgbClr val="E24B4A"/>
          </a:solidFill>
          <a:ln w="12700">
            <a:solidFill>
              <a:srgbClr val="E24B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320040" y="380585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b="1" dirty="0">
                <a:solidFill>
                  <a:srgbClr val="FFFFFF"/>
                </a:solidFill>
              </a:rPr>
              <a:t>C5 - Low-Risk Female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9635" y="360012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4C7D8"/>
                </a:solidFill>
              </a:rPr>
              <a:t>n=46  ·  Severe / Severe</a:t>
            </a:r>
            <a:endParaRPr lang="en-US" sz="85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1F2E08-BF3D-C159-A018-CC1DB78D4DAC}"/>
              </a:ext>
            </a:extLst>
          </p:cNvPr>
          <p:cNvSpPr txBox="1"/>
          <p:nvPr/>
        </p:nvSpPr>
        <p:spPr>
          <a:xfrm>
            <a:off x="252113" y="3424428"/>
            <a:ext cx="19042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50" b="1" dirty="0">
                <a:solidFill>
                  <a:srgbClr val="FFFFFF"/>
                </a:solidFill>
              </a:rPr>
              <a:t>C4 - High-Risk Severe ⚠</a:t>
            </a:r>
            <a:endParaRPr lang="en-IN" sz="95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DED23E10-5B36-FF44-7888-F9E9CD7520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4822" y="777240"/>
            <a:ext cx="6479178" cy="43783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300" dirty="0">
                <a:solidFill>
                  <a:srgbClr val="FFCDD2"/>
                </a:solidFill>
              </a:rPr>
              <a:t> RESULT 1  </a:t>
            </a:r>
          </a:p>
          <a:p>
            <a:pPr marL="0" indent="0" algn="l">
              <a:buNone/>
            </a:pPr>
            <a:r>
              <a:rPr lang="en-US" sz="800" b="1" kern="0" spc="300" dirty="0">
                <a:solidFill>
                  <a:srgbClr val="FFCDD2"/>
                </a:solidFill>
              </a:rPr>
              <a:t>	CLUSTER DEEP DIVE :- HIGH-RISK SEVERE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274320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</a:rPr>
              <a:t>Cluster 4 - High-Risk Severe (n=46) - Immediate Clinical Priority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20040" y="932688"/>
            <a:ext cx="2743200" cy="12618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320040" y="932688"/>
            <a:ext cx="274320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429768" y="104241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C0392B"/>
                </a:solidFill>
              </a:rPr>
              <a:t>17.2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29768" y="152704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</a:rPr>
              <a:t>PHQ Score</a:t>
            </a:r>
            <a:endParaRPr lang="en-US" sz="10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</a:rPr>
              <a:t>(Depression)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29768" y="189280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94A3B8"/>
                </a:solidFill>
              </a:rPr>
              <a:t>Severe threshold ≥15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46120" y="932688"/>
            <a:ext cx="2743200" cy="12618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3246120" y="932688"/>
            <a:ext cx="274320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3355848" y="104241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C0392B"/>
                </a:solidFill>
              </a:rPr>
              <a:t>16.2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355848" y="152704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</a:rPr>
              <a:t>GAD Score</a:t>
            </a:r>
            <a:endParaRPr lang="en-US" sz="10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</a:rPr>
              <a:t>(Anxiety)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355848" y="189280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94A3B8"/>
                </a:solidFill>
              </a:rPr>
              <a:t>Severe threshold ≥15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172200" y="932688"/>
            <a:ext cx="2743200" cy="12618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6172200" y="932688"/>
            <a:ext cx="2743200" cy="640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6281928" y="104241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D97706"/>
                </a:solidFill>
              </a:rPr>
              <a:t>13.1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281928" y="152704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</a:rPr>
              <a:t>Epworth Score</a:t>
            </a:r>
            <a:endParaRPr lang="en-US" sz="10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</a:rPr>
              <a:t>(Sleepiness)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281928" y="189280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94A3B8"/>
                </a:solidFill>
              </a:rPr>
              <a:t>Pathological ≥11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20040" y="2350008"/>
            <a:ext cx="2743200" cy="12618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320040" y="2350008"/>
            <a:ext cx="2743200" cy="64008"/>
          </a:xfrm>
          <a:prstGeom prst="rect">
            <a:avLst/>
          </a:prstGeom>
          <a:solidFill>
            <a:srgbClr val="4A5568"/>
          </a:solidFill>
          <a:ln w="12700">
            <a:solidFill>
              <a:srgbClr val="4A556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9768" y="245973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4A5568"/>
                </a:solidFill>
              </a:rPr>
              <a:t>24.5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429768" y="294436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</a:rPr>
              <a:t>BMI</a:t>
            </a:r>
            <a:endParaRPr lang="en-US" sz="10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</a:rPr>
              <a:t>(Normal weight)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29768" y="331012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94A3B8"/>
                </a:solidFill>
              </a:rPr>
              <a:t>Not weight-driven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246120" y="2350008"/>
            <a:ext cx="2743200" cy="12618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3246120" y="2350008"/>
            <a:ext cx="2743200" cy="64008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3355848" y="245973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6B46C1"/>
                </a:solidFill>
              </a:rPr>
              <a:t>20.1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3355848" y="294436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</a:rPr>
              <a:t>Average Age</a:t>
            </a:r>
            <a:endParaRPr lang="en-US" sz="10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</a:rPr>
              <a:t>(years)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355848" y="331012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94A3B8"/>
                </a:solidFill>
              </a:rPr>
              <a:t>Young adult cohort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172200" y="2350008"/>
            <a:ext cx="2743200" cy="12618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6172200" y="2350008"/>
            <a:ext cx="2743200" cy="64008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6281928" y="245973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B2F5E"/>
                </a:solidFill>
              </a:rPr>
              <a:t>46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6281928" y="294436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</a:rPr>
              <a:t>Patients</a:t>
            </a:r>
            <a:endParaRPr lang="en-US" sz="10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</a:rPr>
              <a:t>(smallest cluster)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81928" y="331012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94A3B8"/>
                </a:solidFill>
              </a:rPr>
              <a:t>6% of total cohort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320040" y="3840480"/>
            <a:ext cx="8503920" cy="841248"/>
          </a:xfrm>
          <a:prstGeom prst="rect">
            <a:avLst/>
          </a:prstGeom>
          <a:solidFill>
            <a:srgbClr val="FEE2E2"/>
          </a:solidFill>
          <a:ln w="1524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502920" y="39136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C0392B"/>
                </a:solidFill>
              </a:rPr>
              <a:t>CLINICAL PRIORITY ACTION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02920" y="41605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dirty="0">
                <a:solidFill>
                  <a:srgbClr val="7F1D1D"/>
                </a:solidFill>
              </a:rPr>
              <a:t>These 46 patients score in the Severe range on both PHQ and GAD simultaneously and report pathological sleepiness. They require immediate escalation to a Step 3/4 pathway — fast-track referral for combined CBT + sleep clinic assessment. 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59" y="45720"/>
            <a:ext cx="64987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400" dirty="0">
                <a:solidFill>
                  <a:srgbClr val="02C39A"/>
                </a:solidFill>
              </a:rPr>
              <a:t>RESULT 1</a:t>
            </a:r>
          </a:p>
          <a:p>
            <a:pPr marL="0" indent="0" algn="l">
              <a:buNone/>
            </a:pPr>
            <a:r>
              <a:rPr lang="en-US" sz="800" b="1" kern="0" spc="400" dirty="0">
                <a:solidFill>
                  <a:srgbClr val="02C39A"/>
                </a:solidFill>
              </a:rPr>
              <a:t>	  CLUSTER DEEP DIVE -SECONDARY PRIORITIES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274320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</a:rPr>
              <a:t>Clusters 1 &amp; 2 - Obesity-Distress &amp; Moderate Mixed+Sleep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4114800" cy="40416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41148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411480" y="102412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B2F5E"/>
                </a:solidFill>
              </a:rPr>
              <a:t>Cluster 1 - Obesity-Mild Distress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135331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A5568"/>
                </a:solidFill>
              </a:rPr>
              <a:t>n = 56  | 6% of cohort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11480" y="1691640"/>
            <a:ext cx="3840480" cy="347472"/>
          </a:xfrm>
          <a:prstGeom prst="rect">
            <a:avLst/>
          </a:prstGeom>
          <a:solidFill>
            <a:srgbClr val="F7FAFE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502920" y="17465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A5568"/>
                </a:solidFill>
              </a:rPr>
              <a:t>PHQ Score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103120" y="1746504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28090"/>
                </a:solidFill>
              </a:rPr>
              <a:t>8.75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880360" y="17465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94A3B8"/>
                </a:solidFill>
              </a:rPr>
              <a:t>Mild range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11480" y="2112264"/>
            <a:ext cx="384048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502920" y="216712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A5568"/>
                </a:solidFill>
              </a:rPr>
              <a:t>GAD Score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103120" y="21671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28090"/>
                </a:solidFill>
              </a:rPr>
              <a:t>7.30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880360" y="216712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94A3B8"/>
                </a:solidFill>
              </a:rPr>
              <a:t>Mild range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11480" y="2532888"/>
            <a:ext cx="3840480" cy="347472"/>
          </a:xfrm>
          <a:prstGeom prst="rect">
            <a:avLst/>
          </a:prstGeom>
          <a:solidFill>
            <a:srgbClr val="F7FAFE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502920" y="258775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A5568"/>
                </a:solidFill>
              </a:rPr>
              <a:t>BMI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103120" y="258775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28090"/>
                </a:solidFill>
              </a:rPr>
              <a:t>31.3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880360" y="2587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94A3B8"/>
                </a:solidFill>
              </a:rPr>
              <a:t>Obese Class I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1480" y="2953512"/>
            <a:ext cx="384048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50292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A5568"/>
                </a:solidFill>
              </a:rPr>
              <a:t>Age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103120" y="3008376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28090"/>
                </a:solidFill>
              </a:rPr>
              <a:t>19.9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88036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94A3B8"/>
                </a:solidFill>
              </a:rPr>
              <a:t>Young adult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11480" y="3374136"/>
            <a:ext cx="3840480" cy="347472"/>
          </a:xfrm>
          <a:prstGeom prst="rect">
            <a:avLst/>
          </a:prstGeom>
          <a:solidFill>
            <a:srgbClr val="F7FAFE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502920" y="34290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A5568"/>
                </a:solidFill>
              </a:rPr>
              <a:t>Epworth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103120" y="342900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28090"/>
                </a:solidFill>
              </a:rPr>
              <a:t>5.6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880360" y="342900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94A3B8"/>
                </a:solidFill>
              </a:rPr>
              <a:t>Normal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11480" y="3794760"/>
            <a:ext cx="3840480" cy="548640"/>
          </a:xfrm>
          <a:prstGeom prst="rect">
            <a:avLst/>
          </a:prstGeom>
          <a:solidFill>
            <a:srgbClr val="E8F4F8"/>
          </a:solidFill>
          <a:ln w="1016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502920" y="3840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950" dirty="0">
                <a:solidFill>
                  <a:srgbClr val="1B2F5E"/>
                </a:solidFill>
              </a:rPr>
              <a:t>Pathway: Integrated mental-physical health clinic - combined weight management + low-intensity CBT (Step 2 IAPT)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754880" y="914400"/>
            <a:ext cx="4114800" cy="40416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4754880" y="914400"/>
            <a:ext cx="4114800" cy="73152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4892040" y="102412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B2F5E"/>
                </a:solidFill>
              </a:rPr>
              <a:t>Cluster 2 - Moderate Mixed + Sleep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892040" y="135331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A5568"/>
                </a:solidFill>
              </a:rPr>
              <a:t>n = 167  |  22% of cohort - largest priority group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892040" y="1691640"/>
            <a:ext cx="3840480" cy="347472"/>
          </a:xfrm>
          <a:prstGeom prst="rect">
            <a:avLst/>
          </a:prstGeom>
          <a:solidFill>
            <a:srgbClr val="F7F4FE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4983480" y="17465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A5568"/>
                </a:solidFill>
              </a:rPr>
              <a:t>PHQ Score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583680" y="1746504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B46C1"/>
                </a:solidFill>
              </a:rPr>
              <a:t>10.1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360920" y="17465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94A3B8"/>
                </a:solidFill>
              </a:rPr>
              <a:t>Moderate range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892040" y="2112264"/>
            <a:ext cx="384048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4983480" y="216712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A5568"/>
                </a:solidFill>
              </a:rPr>
              <a:t>GAD Score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583680" y="21671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B46C1"/>
                </a:solidFill>
              </a:rPr>
              <a:t>11.0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7360920" y="216712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94A3B8"/>
                </a:solidFill>
              </a:rPr>
              <a:t>Moderate range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892040" y="2532888"/>
            <a:ext cx="3840480" cy="347472"/>
          </a:xfrm>
          <a:prstGeom prst="rect">
            <a:avLst/>
          </a:prstGeom>
          <a:solidFill>
            <a:srgbClr val="F7F4FE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4" name="Text 42"/>
          <p:cNvSpPr/>
          <p:nvPr/>
        </p:nvSpPr>
        <p:spPr>
          <a:xfrm>
            <a:off x="4983480" y="258775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A5568"/>
                </a:solidFill>
              </a:rPr>
              <a:t>BMI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583680" y="258775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B46C1"/>
                </a:solidFill>
              </a:rPr>
              <a:t>22.2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7360920" y="2587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94A3B8"/>
                </a:solidFill>
              </a:rPr>
              <a:t>Normal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892040" y="2953512"/>
            <a:ext cx="384048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46"/>
          <p:cNvSpPr/>
          <p:nvPr/>
        </p:nvSpPr>
        <p:spPr>
          <a:xfrm>
            <a:off x="49834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A5568"/>
                </a:solidFill>
              </a:rPr>
              <a:t>Age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583680" y="3008376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B46C1"/>
                </a:solidFill>
              </a:rPr>
              <a:t>19.7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736092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94A3B8"/>
                </a:solidFill>
              </a:rPr>
              <a:t>Young adult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892040" y="3374136"/>
            <a:ext cx="3840480" cy="347472"/>
          </a:xfrm>
          <a:prstGeom prst="rect">
            <a:avLst/>
          </a:prstGeom>
          <a:solidFill>
            <a:srgbClr val="F7F4FE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4983480" y="34290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A5568"/>
                </a:solidFill>
              </a:rPr>
              <a:t>Epworth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6583680" y="342900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B46C1"/>
                </a:solidFill>
              </a:rPr>
              <a:t>8.6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7360920" y="342900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94A3B8"/>
                </a:solidFill>
              </a:rPr>
              <a:t>Borderline high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4892040" y="3794760"/>
            <a:ext cx="3840480" cy="548640"/>
          </a:xfrm>
          <a:prstGeom prst="rect">
            <a:avLst/>
          </a:prstGeom>
          <a:solidFill>
            <a:srgbClr val="F5F0FF"/>
          </a:solidFill>
          <a:ln w="10160">
            <a:solidFill>
              <a:srgbClr val="6B46C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Text 54"/>
          <p:cNvSpPr/>
          <p:nvPr/>
        </p:nvSpPr>
        <p:spPr>
          <a:xfrm>
            <a:off x="4983480" y="3840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950" dirty="0">
                <a:solidFill>
                  <a:srgbClr val="1B2F5E"/>
                </a:solidFill>
              </a:rPr>
              <a:t>Pathway: Step 2 IAPT(</a:t>
            </a:r>
            <a:r>
              <a:rPr lang="en-IN" sz="1000" dirty="0"/>
              <a:t>NHS Talking Therapies</a:t>
            </a:r>
            <a:r>
              <a:rPr lang="en-US" sz="950" dirty="0">
                <a:solidFill>
                  <a:srgbClr val="1B2F5E"/>
                </a:solidFill>
              </a:rPr>
              <a:t>) with sleep hygiene component — group CBT referral + Epworth monitoring every 6 weeks</a:t>
            </a:r>
            <a:endParaRPr lang="en-US" sz="9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3">
            <a:extLst>
              <a:ext uri="{FF2B5EF4-FFF2-40B4-BE49-F238E27FC236}">
                <a16:creationId xmlns:a16="http://schemas.microsoft.com/office/drawing/2014/main" id="{6B148F41-4BB3-7095-6701-6509E7F79D51}"/>
              </a:ext>
            </a:extLst>
          </p:cNvPr>
          <p:cNvSpPr/>
          <p:nvPr/>
        </p:nvSpPr>
        <p:spPr>
          <a:xfrm>
            <a:off x="7620" y="777240"/>
            <a:ext cx="2651760" cy="4361688"/>
          </a:xfrm>
          <a:prstGeom prst="rect">
            <a:avLst/>
          </a:prstGeom>
          <a:solidFill>
            <a:srgbClr val="5BB7B9"/>
          </a:solidFill>
          <a:ln w="12700">
            <a:solidFill>
              <a:srgbClr val="5BB7B9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</a:rPr>
              <a:t>CSEW Proxy Timeseries — Crime Worry &amp; Safety Perception 2002–2019</a:t>
            </a:r>
            <a:endParaRPr lang="en-US" sz="18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651760" y="2488170"/>
            <a:ext cx="6492240" cy="265075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12420" y="187403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chemeClr val="bg1"/>
                </a:solidFill>
              </a:rPr>
              <a:t>Car crime worry - Break: 2012   </a:t>
            </a:r>
          </a:p>
        </p:txBody>
      </p:sp>
      <p:sp>
        <p:nvSpPr>
          <p:cNvPr id="9" name="Text 5"/>
          <p:cNvSpPr/>
          <p:nvPr/>
        </p:nvSpPr>
        <p:spPr>
          <a:xfrm>
            <a:off x="53340" y="141651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C000"/>
                </a:solidFill>
              </a:rPr>
              <a:t>✔ </a:t>
            </a:r>
            <a:r>
              <a:rPr lang="en-US" sz="1200" b="1" dirty="0">
                <a:solidFill>
                  <a:schemeClr val="bg1"/>
                </a:solidFill>
              </a:rPr>
              <a:t>Significant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0" name="Text 6"/>
          <p:cNvSpPr/>
          <p:nvPr/>
        </p:nvSpPr>
        <p:spPr>
          <a:xfrm>
            <a:off x="312420" y="1734641"/>
            <a:ext cx="2453640" cy="1121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chemeClr val="bg1"/>
                </a:solidFill>
              </a:rPr>
              <a:t>Violent crime worry- Break: 2005 / 2013  </a:t>
            </a:r>
          </a:p>
        </p:txBody>
      </p:sp>
      <p:sp>
        <p:nvSpPr>
          <p:cNvPr id="12" name="Text 8"/>
          <p:cNvSpPr/>
          <p:nvPr/>
        </p:nvSpPr>
        <p:spPr>
          <a:xfrm>
            <a:off x="312420" y="207137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chemeClr val="bg1"/>
                </a:solidFill>
              </a:rPr>
              <a:t>Female feel safe  -  Break: 2012    </a:t>
            </a:r>
          </a:p>
        </p:txBody>
      </p:sp>
      <p:sp>
        <p:nvSpPr>
          <p:cNvPr id="14" name="Text 10"/>
          <p:cNvSpPr/>
          <p:nvPr/>
        </p:nvSpPr>
        <p:spPr>
          <a:xfrm>
            <a:off x="312420" y="289470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chemeClr val="bg1"/>
                </a:solidFill>
              </a:rPr>
              <a:t>Burglary worry - Break: 2011    </a:t>
            </a:r>
          </a:p>
        </p:txBody>
      </p:sp>
      <p:sp>
        <p:nvSpPr>
          <p:cNvPr id="15" name="Text 11"/>
          <p:cNvSpPr/>
          <p:nvPr/>
        </p:nvSpPr>
        <p:spPr>
          <a:xfrm>
            <a:off x="110490" y="251943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00000"/>
                </a:solidFill>
              </a:rPr>
              <a:t>✘</a:t>
            </a:r>
            <a:r>
              <a:rPr lang="en-US" sz="1200" b="1" dirty="0">
                <a:solidFill>
                  <a:schemeClr val="bg1"/>
                </a:solidFill>
              </a:rPr>
              <a:t> Not significant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6" name="Text 12"/>
          <p:cNvSpPr/>
          <p:nvPr/>
        </p:nvSpPr>
        <p:spPr>
          <a:xfrm>
            <a:off x="312420" y="312330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chemeClr val="bg1"/>
                </a:solidFill>
              </a:rPr>
              <a:t>Male feel safe - Break: 2009   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00A7CAA-9F96-578C-7B28-8D93AF34FF3B}"/>
              </a:ext>
            </a:extLst>
          </p:cNvPr>
          <p:cNvSpPr txBox="1"/>
          <p:nvPr/>
        </p:nvSpPr>
        <p:spPr>
          <a:xfrm>
            <a:off x="0" y="954357"/>
            <a:ext cx="24917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Results</a:t>
            </a:r>
            <a:endParaRPr lang="en-US" sz="1600" dirty="0">
              <a:solidFill>
                <a:schemeClr val="bg1"/>
              </a:solidFill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40705C5E-2ADF-A131-C7D7-7E52CA205F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6980" y="777240"/>
            <a:ext cx="2827020" cy="1701786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437A8F03-B6EF-B887-325C-103CFCCF77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1760" y="785902"/>
            <a:ext cx="3665220" cy="169312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572"/>
            <a:ext cx="9144000" cy="7772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201168" y="118872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</a:rPr>
              <a:t>Prophet vs ARIMA(2,1,2) -  Test-Set Accuracy on 6-Month Hold-Out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74320" y="841248"/>
            <a:ext cx="201168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274320" y="841248"/>
            <a:ext cx="2011680" cy="6400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384048" y="95097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28090"/>
                </a:solidFill>
              </a:rPr>
              <a:t>5,679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84048" y="143560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</a:rPr>
              <a:t>Prophet MAE</a:t>
            </a:r>
            <a:endParaRPr lang="en-US" sz="10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</a:rPr>
              <a:t>(referrals/month)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4048" y="180136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94A3B8"/>
                </a:solidFill>
              </a:rPr>
              <a:t>Lower = better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468880" y="841248"/>
            <a:ext cx="201168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2468880" y="841248"/>
            <a:ext cx="201168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2578608" y="95097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C0392B"/>
                </a:solidFill>
              </a:rPr>
              <a:t>13,512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578608" y="143560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</a:rPr>
              <a:t>ARIMA MAE</a:t>
            </a:r>
            <a:endParaRPr lang="en-US" sz="10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</a:rPr>
              <a:t>(referrals/month)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578608" y="180136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94A3B8"/>
                </a:solidFill>
              </a:rPr>
              <a:t>57% worse than Prophet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663440" y="841248"/>
            <a:ext cx="201168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4663440" y="841248"/>
            <a:ext cx="2011680" cy="6400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4773168" y="95097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28090"/>
                </a:solidFill>
              </a:rPr>
              <a:t>6,869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773168" y="143560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</a:rPr>
              <a:t>Prophet RMSE</a:t>
            </a:r>
            <a:endParaRPr lang="en-US" sz="10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</a:rPr>
              <a:t>(referrals/month)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73168" y="180136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94A3B8"/>
                </a:solidFill>
              </a:rPr>
              <a:t>Penalises outliers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858000" y="841248"/>
            <a:ext cx="201168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6858000" y="841248"/>
            <a:ext cx="201168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6967728" y="95097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C0392B"/>
                </a:solidFill>
              </a:rPr>
              <a:t>15,496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967728" y="143560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</a:rPr>
              <a:t>ARIMA RMSE</a:t>
            </a:r>
            <a:endParaRPr lang="en-US" sz="10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</a:rPr>
              <a:t>(referrals/month)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967728" y="180136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94A3B8"/>
                </a:solidFill>
              </a:rPr>
              <a:t>2.25× Prophet RMSE</a:t>
            </a:r>
            <a:endParaRPr lang="en-US" sz="850" dirty="0"/>
          </a:p>
        </p:txBody>
      </p:sp>
      <p:pic>
        <p:nvPicPr>
          <p:cNvPr id="2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74320" y="2148840"/>
            <a:ext cx="8595360" cy="2578608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274320" y="4773168"/>
            <a:ext cx="8595360" cy="370332"/>
          </a:xfrm>
          <a:prstGeom prst="rect">
            <a:avLst/>
          </a:prstGeom>
          <a:solidFill>
            <a:srgbClr val="E8F4F8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4"/>
          <p:cNvSpPr/>
          <p:nvPr/>
        </p:nvSpPr>
        <p:spPr>
          <a:xfrm>
            <a:off x="411480" y="4818888"/>
            <a:ext cx="828185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000" dirty="0">
                <a:solidFill>
                  <a:srgbClr val="1B2F5E"/>
                </a:solidFill>
              </a:rPr>
              <a:t>Prophet selected as production model — MAE 5,679 vs ARIMA 13,512. Prophet handles NHS seasonal patterns (Christmas, Easter, summer dips) automatically via Fourier terms.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103632" y="114300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</a:rPr>
              <a:t>Prophet Forecast: March - April </a:t>
            </a:r>
            <a:r>
              <a:rPr lang="en-US" b="1" dirty="0">
                <a:solidFill>
                  <a:srgbClr val="FFFFFF"/>
                </a:solidFill>
              </a:rPr>
              <a:t>- </a:t>
            </a:r>
            <a:r>
              <a:rPr lang="en-US" sz="1800" b="1" dirty="0">
                <a:solidFill>
                  <a:srgbClr val="FFFFFF"/>
                </a:solidFill>
              </a:rPr>
              <a:t>May 2026 with 95% Confidence Intervals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74320" y="868680"/>
            <a:ext cx="2743200" cy="14813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274320" y="868680"/>
            <a:ext cx="274320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384048" y="960120"/>
            <a:ext cx="2523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A5568"/>
                </a:solidFill>
              </a:rPr>
              <a:t>March 2026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84048" y="1188720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0392B"/>
                </a:solidFill>
              </a:rPr>
              <a:t>152,424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84048" y="1645920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94A3B8"/>
                </a:solidFill>
              </a:rPr>
              <a:t>CI: 148,135 – 156,540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84048" y="1837944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0392B"/>
                </a:solidFill>
              </a:rPr>
              <a:t>Peak month — demand surge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00400" y="868680"/>
            <a:ext cx="2743200" cy="14813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3200400" y="868680"/>
            <a:ext cx="2743200" cy="6400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310128" y="960120"/>
            <a:ext cx="2523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A5568"/>
                </a:solidFill>
              </a:rPr>
              <a:t>April 2026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10128" y="1188720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28090"/>
                </a:solidFill>
              </a:rPr>
              <a:t>126,767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3310128" y="1645920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94A3B8"/>
                </a:solidFill>
              </a:rPr>
              <a:t>CI: 122,373 – 131,151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310128" y="1837944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28090"/>
                </a:solidFill>
              </a:rPr>
              <a:t>Post-March dip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126480" y="868680"/>
            <a:ext cx="2743200" cy="14813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6126480" y="868680"/>
            <a:ext cx="2743200" cy="64008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6236208" y="960120"/>
            <a:ext cx="2523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A5568"/>
                </a:solidFill>
              </a:rPr>
              <a:t>May 2026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36208" y="1188720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B2F5E"/>
                </a:solidFill>
              </a:rPr>
              <a:t>136,547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6236208" y="1645920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94A3B8"/>
                </a:solidFill>
              </a:rPr>
              <a:t>CI: 132,101 – 141,397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236208" y="1837944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B2F5E"/>
                </a:solidFill>
              </a:rPr>
              <a:t>Partial recovery</a:t>
            </a:r>
            <a:endParaRPr lang="en-US" sz="900" dirty="0"/>
          </a:p>
        </p:txBody>
      </p:sp>
      <p:pic>
        <p:nvPicPr>
          <p:cNvPr id="23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74320" y="2450592"/>
            <a:ext cx="8595360" cy="2290572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274320" y="4828032"/>
            <a:ext cx="8595360" cy="315468"/>
          </a:xfrm>
          <a:prstGeom prst="rect">
            <a:avLst/>
          </a:prstGeom>
          <a:solidFill>
            <a:srgbClr val="FFF8E1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25" name="Text 22"/>
          <p:cNvSpPr/>
          <p:nvPr/>
        </p:nvSpPr>
        <p:spPr>
          <a:xfrm>
            <a:off x="411480" y="4873752"/>
            <a:ext cx="8366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000" dirty="0">
                <a:solidFill>
                  <a:srgbClr val="78350F"/>
                </a:solidFill>
              </a:rPr>
              <a:t>  March 2026 surge of ~152K referrals (vs April dip of ~127K) = 20% swing. Recommend pre-commissioning bank clinician sessions for Q1 and extended evening appointments in high-demand ICBs.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280851" y="118872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</a:rPr>
              <a:t>Isolation Forest — NHS CCG Prescribing Spend Anomalies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74320" y="841248"/>
            <a:ext cx="2011680" cy="12618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274320" y="841248"/>
            <a:ext cx="201168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384048" y="95097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C0392B"/>
                </a:solidFill>
              </a:rPr>
              <a:t>5%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84048" y="143560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</a:rPr>
              <a:t>Contamination Rate</a:t>
            </a:r>
            <a:endParaRPr lang="en-US" sz="10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</a:rPr>
              <a:t>(model parameter)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4048" y="180136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94A3B8"/>
                </a:solidFill>
              </a:rPr>
              <a:t>Industry-standard setting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468880" y="841248"/>
            <a:ext cx="2011680" cy="12618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2468880" y="841248"/>
            <a:ext cx="2011680" cy="64008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2578608" y="95097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B2F5E"/>
                </a:solidFill>
              </a:rPr>
              <a:t>IF-100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578608" y="143560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</a:rPr>
              <a:t>Isolation Forest</a:t>
            </a:r>
            <a:endParaRPr lang="en-US" sz="10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</a:rPr>
              <a:t>(n_estimators=100)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578608" y="180136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94A3B8"/>
                </a:solidFill>
              </a:rPr>
              <a:t>Random state=42 (reproducible)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663440" y="841248"/>
            <a:ext cx="2011680" cy="12618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4663440" y="841248"/>
            <a:ext cx="2011680" cy="6400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4773168" y="95097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28090"/>
                </a:solidFill>
              </a:rPr>
              <a:t>5 Features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773168" y="143560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</a:rPr>
              <a:t>Per-patient cost, items</a:t>
            </a:r>
            <a:endParaRPr lang="en-US" sz="10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</a:rPr>
              <a:t>quantity, cost/item, qty/item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73168" y="180136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94A3B8"/>
                </a:solidFill>
              </a:rPr>
              <a:t>Engineered from raw CCG data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858000" y="841248"/>
            <a:ext cx="2011680" cy="12618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6858000" y="841248"/>
            <a:ext cx="2011680" cy="64008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6967728" y="95097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6B46C1"/>
                </a:solidFill>
              </a:rPr>
              <a:t>Top 10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967728" y="143560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</a:rPr>
              <a:t>CCGs flagged for</a:t>
            </a:r>
            <a:endParaRPr lang="en-US" sz="10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</a:rPr>
              <a:t>clinical audit review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967728" y="180136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94A3B8"/>
                </a:solidFill>
              </a:rPr>
              <a:t>Most anomalous months</a:t>
            </a:r>
            <a:endParaRPr lang="en-US" sz="85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F7A8333C-C8C1-9470-9DE6-BCBB7140F9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375" y="2350008"/>
            <a:ext cx="3873137" cy="268703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6742221-CF66-4964-2704-2AB967901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96512" y="2351967"/>
            <a:ext cx="4932337" cy="1095321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521CC26E-B471-6A05-297C-ED913D7013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6512" y="3447289"/>
            <a:ext cx="4932338" cy="15897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121920" y="128016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</a:rPr>
              <a:t>Index of Multiple Deprivation (IMD) by ICB - England (42 ICBs)</a:t>
            </a:r>
            <a:endParaRPr lang="en-US" sz="18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74320" y="841248"/>
            <a:ext cx="46634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166360" y="9601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B2F5E"/>
                </a:solidFill>
              </a:rPr>
              <a:t>What is IMD?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166360" y="126187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50" dirty="0">
                <a:solidFill>
                  <a:srgbClr val="4A5568"/>
                </a:solidFill>
              </a:rPr>
              <a:t>The Index of Multiple Deprivation (IMD) scores Lower Super Output Areas across 7 domains: income, employment, education, health, crime, housing, and environment. Higher score = more deprived.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166360" y="224028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B2F5E"/>
                </a:solidFill>
              </a:rPr>
              <a:t>Highest-Deprivation ICBs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166360" y="2560320"/>
            <a:ext cx="3749040" cy="301752"/>
          </a:xfrm>
          <a:prstGeom prst="rect">
            <a:avLst/>
          </a:prstGeom>
          <a:solidFill>
            <a:srgbClr val="FEF2F2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7"/>
          <p:cNvSpPr/>
          <p:nvPr/>
        </p:nvSpPr>
        <p:spPr>
          <a:xfrm>
            <a:off x="5257800" y="260604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B2F5E"/>
                </a:solidFill>
              </a:rPr>
              <a:t>Birmingham &amp; Solihull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680960" y="26060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C0392B"/>
                </a:solidFill>
              </a:rPr>
              <a:t>67.5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166360" y="2926080"/>
            <a:ext cx="3749040" cy="301752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0"/>
          <p:cNvSpPr/>
          <p:nvPr/>
        </p:nvSpPr>
        <p:spPr>
          <a:xfrm>
            <a:off x="5257800" y="297180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B2F5E"/>
                </a:solidFill>
              </a:rPr>
              <a:t>Black Country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7680960" y="297180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C0392B"/>
                </a:solidFill>
              </a:rPr>
              <a:t>64.5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166360" y="3291840"/>
            <a:ext cx="3749040" cy="301752"/>
          </a:xfrm>
          <a:prstGeom prst="rect">
            <a:avLst/>
          </a:prstGeom>
          <a:solidFill>
            <a:srgbClr val="FEF2F2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3"/>
          <p:cNvSpPr/>
          <p:nvPr/>
        </p:nvSpPr>
        <p:spPr>
          <a:xfrm>
            <a:off x="5257800" y="333756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B2F5E"/>
                </a:solidFill>
              </a:rPr>
              <a:t>North East London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680960" y="333756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C0392B"/>
                </a:solidFill>
              </a:rPr>
              <a:t>62.8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166360" y="3657600"/>
            <a:ext cx="3749040" cy="301752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6"/>
          <p:cNvSpPr/>
          <p:nvPr/>
        </p:nvSpPr>
        <p:spPr>
          <a:xfrm>
            <a:off x="5257800" y="370332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B2F5E"/>
                </a:solidFill>
              </a:rPr>
              <a:t>Greater Manchester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680960" y="370332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C0392B"/>
                </a:solidFill>
              </a:rPr>
              <a:t>60.1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166360" y="4023360"/>
            <a:ext cx="3749040" cy="301752"/>
          </a:xfrm>
          <a:prstGeom prst="rect">
            <a:avLst/>
          </a:prstGeom>
          <a:solidFill>
            <a:srgbClr val="FEF2F2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19"/>
          <p:cNvSpPr/>
          <p:nvPr/>
        </p:nvSpPr>
        <p:spPr>
          <a:xfrm>
            <a:off x="5257800" y="406908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B2F5E"/>
                </a:solidFill>
              </a:rPr>
              <a:t>Buckinghamshire / Oxon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680960" y="406908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76749"/>
                </a:solidFill>
              </a:rPr>
              <a:t>29.0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166360" y="4389120"/>
            <a:ext cx="3749040" cy="301752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2"/>
          <p:cNvSpPr/>
          <p:nvPr/>
        </p:nvSpPr>
        <p:spPr>
          <a:xfrm>
            <a:off x="5257800" y="443484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B2F5E"/>
                </a:solidFill>
              </a:rPr>
              <a:t>South Yorkshire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680960" y="44348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C0392B"/>
                </a:solidFill>
              </a:rPr>
              <a:t>55.0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5166360" y="4800600"/>
            <a:ext cx="3749040" cy="342900"/>
          </a:xfrm>
          <a:prstGeom prst="rect">
            <a:avLst/>
          </a:prstGeom>
          <a:solidFill>
            <a:srgbClr val="FEF2F2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5"/>
          <p:cNvSpPr/>
          <p:nvPr/>
        </p:nvSpPr>
        <p:spPr>
          <a:xfrm>
            <a:off x="5303520" y="4846320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000" dirty="0">
                <a:solidFill>
                  <a:srgbClr val="7F1D1D"/>
                </a:solidFill>
              </a:rPr>
              <a:t>Darker red = higher deprivation. Northern England and parts of London dominate the top quintile.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190500" y="120396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</a:rPr>
              <a:t>NHS Talking Therapies Access Rate vs High-Need / Low-Service ICBs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74320" y="8686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F5E"/>
                </a:solidFill>
              </a:rPr>
              <a:t>IAPT Access Rate by ICB</a:t>
            </a:r>
            <a:endParaRPr lang="en-US" sz="12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74320" y="1170432"/>
            <a:ext cx="4297680" cy="33832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754880" y="8686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F5E"/>
                </a:solidFill>
              </a:rPr>
              <a:t>High-Need / Low-Service ICBs</a:t>
            </a:r>
            <a:endParaRPr lang="en-US" sz="12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54880" y="1170432"/>
            <a:ext cx="4206240" cy="338328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274320" y="4626864"/>
            <a:ext cx="8595360" cy="438912"/>
          </a:xfrm>
          <a:prstGeom prst="rect">
            <a:avLst/>
          </a:prstGeom>
          <a:solidFill>
            <a:srgbClr val="FEF2F2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6"/>
          <p:cNvSpPr/>
          <p:nvPr/>
        </p:nvSpPr>
        <p:spPr>
          <a:xfrm>
            <a:off x="411480" y="4672584"/>
            <a:ext cx="8366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000" dirty="0">
                <a:solidFill>
                  <a:srgbClr val="7F1D1D"/>
                </a:solidFill>
              </a:rPr>
              <a:t>Access rate range: 40.7% (Shropshire, Telford &amp; Wrekin) to 86.0% (South Yorkshire). Green = adequately served. Red = high deprivation + low access = unmet need. 7 ICBs flagged.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allOver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82296" y="134112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</a:rPr>
              <a:t>Priority ICBs - High Deprivation | Low Access |</a:t>
            </a:r>
            <a:r>
              <a:rPr lang="en-US" b="1" dirty="0">
                <a:solidFill>
                  <a:srgbClr val="FFFFFF"/>
                </a:solidFill>
              </a:rPr>
              <a:t> </a:t>
            </a:r>
            <a:r>
              <a:rPr lang="en-US" sz="1800" b="1" dirty="0">
                <a:solidFill>
                  <a:srgbClr val="FFFFFF"/>
                </a:solidFill>
              </a:rPr>
              <a:t>Low Recovery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2880360" cy="274320"/>
          </a:xfrm>
          <a:prstGeom prst="rect">
            <a:avLst/>
          </a:prstGeom>
          <a:solidFill>
            <a:srgbClr val="7F1D1D"/>
          </a:solidFill>
          <a:ln w="12700">
            <a:solidFill>
              <a:srgbClr val="7F1D1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47472" y="850392"/>
            <a:ext cx="2761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FFFF"/>
                </a:solidFill>
              </a:rPr>
              <a:t>ICB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246120" y="804672"/>
            <a:ext cx="1188720" cy="274320"/>
          </a:xfrm>
          <a:prstGeom prst="rect">
            <a:avLst/>
          </a:prstGeom>
          <a:solidFill>
            <a:srgbClr val="7F1D1D"/>
          </a:solidFill>
          <a:ln w="12700">
            <a:solidFill>
              <a:srgbClr val="7F1D1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319272" y="850392"/>
            <a:ext cx="10698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FFFF"/>
                </a:solidFill>
              </a:rPr>
              <a:t>IMD Score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26280" y="804672"/>
            <a:ext cx="1188720" cy="274320"/>
          </a:xfrm>
          <a:prstGeom prst="rect">
            <a:avLst/>
          </a:prstGeom>
          <a:solidFill>
            <a:srgbClr val="7F1D1D"/>
          </a:solidFill>
          <a:ln w="12700">
            <a:solidFill>
              <a:srgbClr val="7F1D1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599432" y="850392"/>
            <a:ext cx="10698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FFFF"/>
                </a:solidFill>
              </a:rPr>
              <a:t>Access Rate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806440" y="804672"/>
            <a:ext cx="1783080" cy="274320"/>
          </a:xfrm>
          <a:prstGeom prst="rect">
            <a:avLst/>
          </a:prstGeom>
          <a:solidFill>
            <a:srgbClr val="7F1D1D"/>
          </a:solidFill>
          <a:ln w="12700">
            <a:solidFill>
              <a:srgbClr val="7F1D1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5879592" y="850392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FFFF"/>
                </a:solidFill>
              </a:rPr>
              <a:t>Unmet Need Score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680960" y="804672"/>
            <a:ext cx="1361440" cy="274320"/>
          </a:xfrm>
          <a:prstGeom prst="rect">
            <a:avLst/>
          </a:prstGeom>
          <a:solidFill>
            <a:srgbClr val="7F1D1D"/>
          </a:solidFill>
          <a:ln w="12700">
            <a:solidFill>
              <a:srgbClr val="7F1D1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7754112" y="850392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FFFF"/>
                </a:solidFill>
              </a:rPr>
              <a:t>Avg Wait (days)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4320" y="1078992"/>
            <a:ext cx="2880360" cy="283464"/>
          </a:xfrm>
          <a:prstGeom prst="rect">
            <a:avLst/>
          </a:prstGeom>
          <a:solidFill>
            <a:srgbClr val="FEF2F2"/>
          </a:solidFill>
          <a:ln w="508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365760" y="1143000"/>
            <a:ext cx="2743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1B2F5E"/>
                </a:solidFill>
              </a:rPr>
              <a:t>Greater Manchester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46120" y="1078992"/>
            <a:ext cx="1188720" cy="283464"/>
          </a:xfrm>
          <a:prstGeom prst="rect">
            <a:avLst/>
          </a:prstGeom>
          <a:solidFill>
            <a:srgbClr val="FEF2F2"/>
          </a:solidFill>
          <a:ln w="508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3337560" y="1143000"/>
            <a:ext cx="1051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A5568"/>
                </a:solidFill>
              </a:rPr>
              <a:t>60.1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26280" y="1078992"/>
            <a:ext cx="1188720" cy="283464"/>
          </a:xfrm>
          <a:prstGeom prst="rect">
            <a:avLst/>
          </a:prstGeom>
          <a:solidFill>
            <a:srgbClr val="FEF2F2"/>
          </a:solidFill>
          <a:ln w="508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4617720" y="1143000"/>
            <a:ext cx="1051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A5568"/>
                </a:solidFill>
              </a:rPr>
              <a:t>49.5%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806440" y="1078992"/>
            <a:ext cx="1783080" cy="283464"/>
          </a:xfrm>
          <a:prstGeom prst="rect">
            <a:avLst/>
          </a:prstGeom>
          <a:solidFill>
            <a:srgbClr val="FEF2F2"/>
          </a:solidFill>
          <a:ln w="508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5897880" y="1143000"/>
            <a:ext cx="1645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C0392B"/>
                </a:solidFill>
              </a:rPr>
              <a:t>74.4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680960" y="1143000"/>
            <a:ext cx="1361440" cy="219456"/>
          </a:xfrm>
          <a:prstGeom prst="rect">
            <a:avLst/>
          </a:prstGeom>
          <a:solidFill>
            <a:srgbClr val="FEF2F2"/>
          </a:solidFill>
          <a:ln w="508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7772400" y="1143000"/>
            <a:ext cx="1463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A5568"/>
                </a:solidFill>
              </a:rPr>
              <a:t>39.0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74320" y="1078992"/>
            <a:ext cx="54864" cy="2834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274320" y="1389888"/>
            <a:ext cx="2880360" cy="283464"/>
          </a:xfrm>
          <a:prstGeom prst="rect">
            <a:avLst/>
          </a:prstGeom>
          <a:solidFill>
            <a:srgbClr val="FFFFFF"/>
          </a:solidFill>
          <a:ln w="508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365760" y="1453896"/>
            <a:ext cx="2743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1B2F5E"/>
                </a:solidFill>
              </a:rPr>
              <a:t>Black Country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246120" y="1389888"/>
            <a:ext cx="1188720" cy="283464"/>
          </a:xfrm>
          <a:prstGeom prst="rect">
            <a:avLst/>
          </a:prstGeom>
          <a:solidFill>
            <a:srgbClr val="FFFFFF"/>
          </a:solidFill>
          <a:ln w="508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3337560" y="1453896"/>
            <a:ext cx="1051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A5568"/>
                </a:solidFill>
              </a:rPr>
              <a:t>64.5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526280" y="1389888"/>
            <a:ext cx="1188720" cy="283464"/>
          </a:xfrm>
          <a:prstGeom prst="rect">
            <a:avLst/>
          </a:prstGeom>
          <a:solidFill>
            <a:srgbClr val="FFFFFF"/>
          </a:solidFill>
          <a:ln w="508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4617720" y="1453896"/>
            <a:ext cx="1051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A5568"/>
                </a:solidFill>
              </a:rPr>
              <a:t>57.5%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806440" y="1389888"/>
            <a:ext cx="1783080" cy="283464"/>
          </a:xfrm>
          <a:prstGeom prst="rect">
            <a:avLst/>
          </a:prstGeom>
          <a:solidFill>
            <a:srgbClr val="FFFFFF"/>
          </a:solidFill>
          <a:ln w="508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5897880" y="1453896"/>
            <a:ext cx="1645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C0392B"/>
                </a:solidFill>
              </a:rPr>
              <a:t>73.4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7680960" y="1426464"/>
            <a:ext cx="1361440" cy="246888"/>
          </a:xfrm>
          <a:prstGeom prst="rect">
            <a:avLst/>
          </a:prstGeom>
          <a:solidFill>
            <a:srgbClr val="FFFFFF"/>
          </a:solidFill>
          <a:ln w="508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7772400" y="1453896"/>
            <a:ext cx="1463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A5568"/>
                </a:solidFill>
              </a:rPr>
              <a:t>49.2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274320" y="1389888"/>
            <a:ext cx="54864" cy="2834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Shape 35"/>
          <p:cNvSpPr/>
          <p:nvPr/>
        </p:nvSpPr>
        <p:spPr>
          <a:xfrm>
            <a:off x="274320" y="1700784"/>
            <a:ext cx="2880360" cy="283464"/>
          </a:xfrm>
          <a:prstGeom prst="rect">
            <a:avLst/>
          </a:prstGeom>
          <a:solidFill>
            <a:srgbClr val="FEF2F2"/>
          </a:solidFill>
          <a:ln w="508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/>
          <p:nvPr/>
        </p:nvSpPr>
        <p:spPr>
          <a:xfrm>
            <a:off x="365760" y="1764792"/>
            <a:ext cx="2743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1B2F5E"/>
                </a:solidFill>
              </a:rPr>
              <a:t>North East London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3246120" y="1700784"/>
            <a:ext cx="1188720" cy="283464"/>
          </a:xfrm>
          <a:prstGeom prst="rect">
            <a:avLst/>
          </a:prstGeom>
          <a:solidFill>
            <a:srgbClr val="FEF2F2"/>
          </a:solidFill>
          <a:ln w="508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3337560" y="1764792"/>
            <a:ext cx="1051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A5568"/>
                </a:solidFill>
              </a:rPr>
              <a:t>62.8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526280" y="1700784"/>
            <a:ext cx="1188720" cy="283464"/>
          </a:xfrm>
          <a:prstGeom prst="rect">
            <a:avLst/>
          </a:prstGeom>
          <a:solidFill>
            <a:srgbClr val="FEF2F2"/>
          </a:solidFill>
          <a:ln w="508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4617720" y="1764792"/>
            <a:ext cx="1051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A5568"/>
                </a:solidFill>
              </a:rPr>
              <a:t>55.3%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806440" y="1700784"/>
            <a:ext cx="1783080" cy="283464"/>
          </a:xfrm>
          <a:prstGeom prst="rect">
            <a:avLst/>
          </a:prstGeom>
          <a:solidFill>
            <a:srgbClr val="FEF2F2"/>
          </a:solidFill>
          <a:ln w="508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4" name="Text 42"/>
          <p:cNvSpPr/>
          <p:nvPr/>
        </p:nvSpPr>
        <p:spPr>
          <a:xfrm>
            <a:off x="5897880" y="1764792"/>
            <a:ext cx="1645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C0392B"/>
                </a:solidFill>
              </a:rPr>
              <a:t>62.7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7680960" y="1737360"/>
            <a:ext cx="1361440" cy="246888"/>
          </a:xfrm>
          <a:prstGeom prst="rect">
            <a:avLst/>
          </a:prstGeom>
          <a:solidFill>
            <a:srgbClr val="FEF2F2"/>
          </a:solidFill>
          <a:ln w="508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7772400" y="1764792"/>
            <a:ext cx="1463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A5568"/>
                </a:solidFill>
              </a:rPr>
              <a:t>N/A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274320" y="1700784"/>
            <a:ext cx="54864" cy="2834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6"/>
          <p:cNvSpPr/>
          <p:nvPr/>
        </p:nvSpPr>
        <p:spPr>
          <a:xfrm>
            <a:off x="274320" y="2011680"/>
            <a:ext cx="2880360" cy="283464"/>
          </a:xfrm>
          <a:prstGeom prst="rect">
            <a:avLst/>
          </a:prstGeom>
          <a:solidFill>
            <a:srgbClr val="FFFFFF"/>
          </a:solidFill>
          <a:ln w="508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9" name="Text 47"/>
          <p:cNvSpPr/>
          <p:nvPr/>
        </p:nvSpPr>
        <p:spPr>
          <a:xfrm>
            <a:off x="365760" y="2075688"/>
            <a:ext cx="2743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1B2F5E"/>
                </a:solidFill>
              </a:rPr>
              <a:t>North Central London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3246120" y="2011680"/>
            <a:ext cx="1188720" cy="283464"/>
          </a:xfrm>
          <a:prstGeom prst="rect">
            <a:avLst/>
          </a:prstGeom>
          <a:solidFill>
            <a:srgbClr val="FFFFFF"/>
          </a:solidFill>
          <a:ln w="508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1" name="Text 49"/>
          <p:cNvSpPr/>
          <p:nvPr/>
        </p:nvSpPr>
        <p:spPr>
          <a:xfrm>
            <a:off x="3337560" y="2075688"/>
            <a:ext cx="1051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A5568"/>
                </a:solidFill>
              </a:rPr>
              <a:t>60.2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526280" y="2011680"/>
            <a:ext cx="1188720" cy="283464"/>
          </a:xfrm>
          <a:prstGeom prst="rect">
            <a:avLst/>
          </a:prstGeom>
          <a:solidFill>
            <a:srgbClr val="FFFFFF"/>
          </a:solidFill>
          <a:ln w="508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3" name="Text 51"/>
          <p:cNvSpPr/>
          <p:nvPr/>
        </p:nvSpPr>
        <p:spPr>
          <a:xfrm>
            <a:off x="4617720" y="2075688"/>
            <a:ext cx="1051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A5568"/>
                </a:solidFill>
              </a:rPr>
              <a:t>56.4%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806440" y="2011680"/>
            <a:ext cx="1783080" cy="283464"/>
          </a:xfrm>
          <a:prstGeom prst="rect">
            <a:avLst/>
          </a:prstGeom>
          <a:solidFill>
            <a:srgbClr val="FFFFFF"/>
          </a:solidFill>
          <a:ln w="508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3"/>
          <p:cNvSpPr/>
          <p:nvPr/>
        </p:nvSpPr>
        <p:spPr>
          <a:xfrm>
            <a:off x="5897880" y="2075688"/>
            <a:ext cx="1645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C0392B"/>
                </a:solidFill>
              </a:rPr>
              <a:t>62.5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7680960" y="2011680"/>
            <a:ext cx="1361440" cy="283464"/>
          </a:xfrm>
          <a:prstGeom prst="rect">
            <a:avLst/>
          </a:prstGeom>
          <a:solidFill>
            <a:srgbClr val="FFFFFF"/>
          </a:solidFill>
          <a:ln w="508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Text 55"/>
          <p:cNvSpPr/>
          <p:nvPr/>
        </p:nvSpPr>
        <p:spPr>
          <a:xfrm>
            <a:off x="7772400" y="2075688"/>
            <a:ext cx="1463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A5568"/>
                </a:solidFill>
              </a:rPr>
              <a:t>N/A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274320" y="2011680"/>
            <a:ext cx="54864" cy="2834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Shape 57"/>
          <p:cNvSpPr/>
          <p:nvPr/>
        </p:nvSpPr>
        <p:spPr>
          <a:xfrm>
            <a:off x="274320" y="2322576"/>
            <a:ext cx="2880360" cy="283464"/>
          </a:xfrm>
          <a:prstGeom prst="rect">
            <a:avLst/>
          </a:prstGeom>
          <a:solidFill>
            <a:srgbClr val="FEF2F2"/>
          </a:solidFill>
          <a:ln w="508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Text 58"/>
          <p:cNvSpPr/>
          <p:nvPr/>
        </p:nvSpPr>
        <p:spPr>
          <a:xfrm>
            <a:off x="365760" y="2386584"/>
            <a:ext cx="2743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1B2F5E"/>
                </a:solidFill>
              </a:rPr>
              <a:t>North West London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3246120" y="2322576"/>
            <a:ext cx="1188720" cy="283464"/>
          </a:xfrm>
          <a:prstGeom prst="rect">
            <a:avLst/>
          </a:prstGeom>
          <a:solidFill>
            <a:srgbClr val="FEF2F2"/>
          </a:solidFill>
          <a:ln w="508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2" name="Text 60"/>
          <p:cNvSpPr/>
          <p:nvPr/>
        </p:nvSpPr>
        <p:spPr>
          <a:xfrm>
            <a:off x="3337560" y="2386584"/>
            <a:ext cx="1051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A5568"/>
                </a:solidFill>
              </a:rPr>
              <a:t>57.7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4526280" y="2322576"/>
            <a:ext cx="1188720" cy="283464"/>
          </a:xfrm>
          <a:prstGeom prst="rect">
            <a:avLst/>
          </a:prstGeom>
          <a:solidFill>
            <a:srgbClr val="FEF2F2"/>
          </a:solidFill>
          <a:ln w="508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4" name="Text 62"/>
          <p:cNvSpPr/>
          <p:nvPr/>
        </p:nvSpPr>
        <p:spPr>
          <a:xfrm>
            <a:off x="4617720" y="2386584"/>
            <a:ext cx="1051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A5568"/>
                </a:solidFill>
              </a:rPr>
              <a:t>54.2%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5806440" y="2322576"/>
            <a:ext cx="1783080" cy="283464"/>
          </a:xfrm>
          <a:prstGeom prst="rect">
            <a:avLst/>
          </a:prstGeom>
          <a:solidFill>
            <a:srgbClr val="FEF2F2"/>
          </a:solidFill>
          <a:ln w="508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6" name="Text 64"/>
          <p:cNvSpPr/>
          <p:nvPr/>
        </p:nvSpPr>
        <p:spPr>
          <a:xfrm>
            <a:off x="5897880" y="2386584"/>
            <a:ext cx="1645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C0392B"/>
                </a:solidFill>
              </a:rPr>
              <a:t>61.4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7680960" y="2322576"/>
            <a:ext cx="1361440" cy="283464"/>
          </a:xfrm>
          <a:prstGeom prst="rect">
            <a:avLst/>
          </a:prstGeom>
          <a:solidFill>
            <a:srgbClr val="FEF2F2"/>
          </a:solidFill>
          <a:ln w="508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8" name="Text 66"/>
          <p:cNvSpPr/>
          <p:nvPr/>
        </p:nvSpPr>
        <p:spPr>
          <a:xfrm>
            <a:off x="7772400" y="2386584"/>
            <a:ext cx="1463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A5568"/>
                </a:solidFill>
              </a:rPr>
              <a:t>N/A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274320" y="2322576"/>
            <a:ext cx="54864" cy="2834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Shape 68"/>
          <p:cNvSpPr/>
          <p:nvPr/>
        </p:nvSpPr>
        <p:spPr>
          <a:xfrm>
            <a:off x="274320" y="2633472"/>
            <a:ext cx="2880360" cy="283464"/>
          </a:xfrm>
          <a:prstGeom prst="rect">
            <a:avLst/>
          </a:prstGeom>
          <a:solidFill>
            <a:srgbClr val="FFFFFF"/>
          </a:solidFill>
          <a:ln w="508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Text 69"/>
          <p:cNvSpPr/>
          <p:nvPr/>
        </p:nvSpPr>
        <p:spPr>
          <a:xfrm>
            <a:off x="365760" y="2697480"/>
            <a:ext cx="2743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1B2F5E"/>
                </a:solidFill>
              </a:rPr>
              <a:t>Lancashire &amp; South Cumbria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3246120" y="2633472"/>
            <a:ext cx="1188720" cy="283464"/>
          </a:xfrm>
          <a:prstGeom prst="rect">
            <a:avLst/>
          </a:prstGeom>
          <a:solidFill>
            <a:srgbClr val="FFFFFF"/>
          </a:solidFill>
          <a:ln w="508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3" name="Text 71"/>
          <p:cNvSpPr/>
          <p:nvPr/>
        </p:nvSpPr>
        <p:spPr>
          <a:xfrm>
            <a:off x="3337560" y="2697480"/>
            <a:ext cx="1051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A5568"/>
                </a:solidFill>
              </a:rPr>
              <a:t>55.6</a:t>
            </a:r>
            <a:endParaRPr lang="en-US" sz="1050" dirty="0"/>
          </a:p>
        </p:txBody>
      </p:sp>
      <p:sp>
        <p:nvSpPr>
          <p:cNvPr id="74" name="Shape 72"/>
          <p:cNvSpPr/>
          <p:nvPr/>
        </p:nvSpPr>
        <p:spPr>
          <a:xfrm>
            <a:off x="4526280" y="2633472"/>
            <a:ext cx="1188720" cy="283464"/>
          </a:xfrm>
          <a:prstGeom prst="rect">
            <a:avLst/>
          </a:prstGeom>
          <a:solidFill>
            <a:srgbClr val="FFFFFF"/>
          </a:solidFill>
          <a:ln w="508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5" name="Text 73"/>
          <p:cNvSpPr/>
          <p:nvPr/>
        </p:nvSpPr>
        <p:spPr>
          <a:xfrm>
            <a:off x="4617720" y="2697480"/>
            <a:ext cx="1051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A5568"/>
                </a:solidFill>
              </a:rPr>
              <a:t>59.7%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5806440" y="2633472"/>
            <a:ext cx="1783080" cy="283464"/>
          </a:xfrm>
          <a:prstGeom prst="rect">
            <a:avLst/>
          </a:prstGeom>
          <a:solidFill>
            <a:srgbClr val="FFFFFF"/>
          </a:solidFill>
          <a:ln w="508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7" name="Text 75"/>
          <p:cNvSpPr/>
          <p:nvPr/>
        </p:nvSpPr>
        <p:spPr>
          <a:xfrm>
            <a:off x="5897880" y="2697480"/>
            <a:ext cx="1645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C0392B"/>
                </a:solidFill>
              </a:rPr>
              <a:t>60.3</a:t>
            </a:r>
            <a:endParaRPr lang="en-US" sz="1050" dirty="0"/>
          </a:p>
        </p:txBody>
      </p:sp>
      <p:sp>
        <p:nvSpPr>
          <p:cNvPr id="78" name="Shape 76"/>
          <p:cNvSpPr/>
          <p:nvPr/>
        </p:nvSpPr>
        <p:spPr>
          <a:xfrm>
            <a:off x="7680960" y="2670048"/>
            <a:ext cx="1361440" cy="246888"/>
          </a:xfrm>
          <a:prstGeom prst="rect">
            <a:avLst/>
          </a:prstGeom>
          <a:solidFill>
            <a:srgbClr val="FFFFFF"/>
          </a:solidFill>
          <a:ln w="508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9" name="Text 77"/>
          <p:cNvSpPr/>
          <p:nvPr/>
        </p:nvSpPr>
        <p:spPr>
          <a:xfrm>
            <a:off x="7772400" y="2697480"/>
            <a:ext cx="1463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A5568"/>
                </a:solidFill>
              </a:rPr>
              <a:t>N/A</a:t>
            </a:r>
            <a:endParaRPr lang="en-US" sz="1050" dirty="0"/>
          </a:p>
        </p:txBody>
      </p:sp>
      <p:sp>
        <p:nvSpPr>
          <p:cNvPr id="80" name="Shape 78"/>
          <p:cNvSpPr/>
          <p:nvPr/>
        </p:nvSpPr>
        <p:spPr>
          <a:xfrm>
            <a:off x="274320" y="2633472"/>
            <a:ext cx="54864" cy="2834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1" name="Shape 79"/>
          <p:cNvSpPr/>
          <p:nvPr/>
        </p:nvSpPr>
        <p:spPr>
          <a:xfrm>
            <a:off x="274320" y="2944368"/>
            <a:ext cx="2880360" cy="283464"/>
          </a:xfrm>
          <a:prstGeom prst="rect">
            <a:avLst/>
          </a:prstGeom>
          <a:solidFill>
            <a:srgbClr val="FEF2F2"/>
          </a:solidFill>
          <a:ln w="508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2" name="Text 80"/>
          <p:cNvSpPr/>
          <p:nvPr/>
        </p:nvSpPr>
        <p:spPr>
          <a:xfrm>
            <a:off x="365760" y="3008376"/>
            <a:ext cx="2743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1B2F5E"/>
                </a:solidFill>
              </a:rPr>
              <a:t>Cornwall &amp; Isles of Scilly</a:t>
            </a:r>
            <a:endParaRPr lang="en-US" sz="950" dirty="0"/>
          </a:p>
        </p:txBody>
      </p:sp>
      <p:sp>
        <p:nvSpPr>
          <p:cNvPr id="83" name="Shape 81"/>
          <p:cNvSpPr/>
          <p:nvPr/>
        </p:nvSpPr>
        <p:spPr>
          <a:xfrm>
            <a:off x="3246120" y="2944368"/>
            <a:ext cx="1188720" cy="283464"/>
          </a:xfrm>
          <a:prstGeom prst="rect">
            <a:avLst/>
          </a:prstGeom>
          <a:solidFill>
            <a:srgbClr val="FEF2F2"/>
          </a:solidFill>
          <a:ln w="508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4" name="Text 82"/>
          <p:cNvSpPr/>
          <p:nvPr/>
        </p:nvSpPr>
        <p:spPr>
          <a:xfrm>
            <a:off x="3337560" y="3008376"/>
            <a:ext cx="1051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A5568"/>
                </a:solidFill>
              </a:rPr>
              <a:t>57.8</a:t>
            </a:r>
            <a:endParaRPr lang="en-US" sz="1050" dirty="0"/>
          </a:p>
        </p:txBody>
      </p:sp>
      <p:sp>
        <p:nvSpPr>
          <p:cNvPr id="85" name="Shape 83"/>
          <p:cNvSpPr/>
          <p:nvPr/>
        </p:nvSpPr>
        <p:spPr>
          <a:xfrm>
            <a:off x="4526280" y="2944368"/>
            <a:ext cx="1188720" cy="283464"/>
          </a:xfrm>
          <a:prstGeom prst="rect">
            <a:avLst/>
          </a:prstGeom>
          <a:solidFill>
            <a:srgbClr val="FEF2F2"/>
          </a:solidFill>
          <a:ln w="508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4"/>
          <p:cNvSpPr/>
          <p:nvPr/>
        </p:nvSpPr>
        <p:spPr>
          <a:xfrm>
            <a:off x="4617720" y="3008376"/>
            <a:ext cx="1051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A5568"/>
                </a:solidFill>
              </a:rPr>
              <a:t>56.6%</a:t>
            </a:r>
            <a:endParaRPr lang="en-US" sz="1050" dirty="0"/>
          </a:p>
        </p:txBody>
      </p:sp>
      <p:sp>
        <p:nvSpPr>
          <p:cNvPr id="87" name="Shape 85"/>
          <p:cNvSpPr/>
          <p:nvPr/>
        </p:nvSpPr>
        <p:spPr>
          <a:xfrm>
            <a:off x="5806440" y="2944368"/>
            <a:ext cx="1783080" cy="283464"/>
          </a:xfrm>
          <a:prstGeom prst="rect">
            <a:avLst/>
          </a:prstGeom>
          <a:solidFill>
            <a:srgbClr val="FEF2F2"/>
          </a:solidFill>
          <a:ln w="508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Text 86"/>
          <p:cNvSpPr/>
          <p:nvPr/>
        </p:nvSpPr>
        <p:spPr>
          <a:xfrm>
            <a:off x="5897880" y="3008376"/>
            <a:ext cx="1645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C0392B"/>
                </a:solidFill>
              </a:rPr>
              <a:t>50.4</a:t>
            </a:r>
            <a:endParaRPr lang="en-US" sz="1050" dirty="0"/>
          </a:p>
        </p:txBody>
      </p:sp>
      <p:sp>
        <p:nvSpPr>
          <p:cNvPr id="89" name="Shape 87"/>
          <p:cNvSpPr/>
          <p:nvPr/>
        </p:nvSpPr>
        <p:spPr>
          <a:xfrm>
            <a:off x="7680960" y="2980944"/>
            <a:ext cx="1361440" cy="246888"/>
          </a:xfrm>
          <a:prstGeom prst="rect">
            <a:avLst/>
          </a:prstGeom>
          <a:solidFill>
            <a:srgbClr val="FEF2F2"/>
          </a:solidFill>
          <a:ln w="508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Text 88"/>
          <p:cNvSpPr/>
          <p:nvPr/>
        </p:nvSpPr>
        <p:spPr>
          <a:xfrm>
            <a:off x="7772400" y="3008376"/>
            <a:ext cx="1463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A5568"/>
                </a:solidFill>
              </a:rPr>
              <a:t>25.3</a:t>
            </a:r>
            <a:endParaRPr lang="en-US" sz="1050" dirty="0"/>
          </a:p>
        </p:txBody>
      </p:sp>
      <p:sp>
        <p:nvSpPr>
          <p:cNvPr id="91" name="Shape 89"/>
          <p:cNvSpPr/>
          <p:nvPr/>
        </p:nvSpPr>
        <p:spPr>
          <a:xfrm>
            <a:off x="274320" y="2944368"/>
            <a:ext cx="54864" cy="2834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2" name="Shape 90"/>
          <p:cNvSpPr/>
          <p:nvPr/>
        </p:nvSpPr>
        <p:spPr>
          <a:xfrm>
            <a:off x="274320" y="3502152"/>
            <a:ext cx="8595360" cy="475488"/>
          </a:xfrm>
          <a:prstGeom prst="rect">
            <a:avLst/>
          </a:prstGeom>
          <a:solidFill>
            <a:srgbClr val="FEF2F2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93" name="Text 91"/>
          <p:cNvSpPr/>
          <p:nvPr/>
        </p:nvSpPr>
        <p:spPr>
          <a:xfrm>
            <a:off x="365760" y="3515360"/>
            <a:ext cx="8366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000" dirty="0">
                <a:solidFill>
                  <a:srgbClr val="7F1D1D"/>
                </a:solidFill>
              </a:rPr>
              <a:t>EQUITY ACTION: Redirect NHS Talking Therapies ring-fenced development funding to these 7 ICBs. Commission additional low-intensity IAPT sessions (Step 2 online CBT) for Greater Manchester and Black Country in Q1 2026 — highest unmet need scores in England (74.4 and 73.4).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F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8595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From Pipeline</a:t>
            </a:r>
            <a:endParaRPr lang="en-US" sz="32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to Insight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274320" y="1156716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A0C4D8"/>
                </a:solidFill>
              </a:rPr>
              <a:t>The three core findings — with clinical actions for your teams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924812"/>
            <a:ext cx="8595360" cy="621792"/>
          </a:xfrm>
          <a:prstGeom prst="rect">
            <a:avLst/>
          </a:prstGeom>
          <a:solidFill>
            <a:srgbClr val="FFFFFF">
              <a:alpha val="10000"/>
            </a:srgbClr>
          </a:solidFill>
          <a:ln w="1016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457200" y="1997964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01  Patient Clustering — 6 segments, 1 urgent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74320" y="2807208"/>
            <a:ext cx="8595360" cy="621792"/>
          </a:xfrm>
          <a:prstGeom prst="rect">
            <a:avLst/>
          </a:prstGeom>
          <a:solidFill>
            <a:srgbClr val="FFFFFF">
              <a:alpha val="10000"/>
            </a:srgbClr>
          </a:solidFill>
          <a:ln w="1016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457200" y="2894076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02  IAPT Demand Forecasting — March 2026 surge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3675888"/>
            <a:ext cx="8595360" cy="621792"/>
          </a:xfrm>
          <a:prstGeom prst="rect">
            <a:avLst/>
          </a:prstGeom>
          <a:solidFill>
            <a:srgbClr val="FFFFFF">
              <a:alpha val="10000"/>
            </a:srgbClr>
          </a:solidFill>
          <a:ln w="1016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57200" y="374904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03  Geo-Spatial Equity — 7 underserved ICBs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213360" y="11430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</a:rPr>
              <a:t>One Command - Full Pipeline - All Outputs Auto-Saved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868680"/>
            <a:ext cx="4023360" cy="621792"/>
          </a:xfrm>
          <a:prstGeom prst="rect">
            <a:avLst/>
          </a:prstGeom>
          <a:solidFill>
            <a:srgbClr val="E6FBF5"/>
          </a:solidFill>
          <a:ln w="635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274320" y="868680"/>
            <a:ext cx="54864" cy="62179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402336" y="996696"/>
            <a:ext cx="347472" cy="34747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02336" y="996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▶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923544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B2F5E"/>
                </a:solidFill>
              </a:rPr>
              <a:t>python run_all.py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1197864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A5568"/>
                </a:solidFill>
              </a:rPr>
              <a:t>Single command triggers everything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74320" y="1490472"/>
            <a:ext cx="4023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28090"/>
                </a:solidFill>
              </a:rPr>
              <a:t>↓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" y="1618488"/>
            <a:ext cx="4023360" cy="621792"/>
          </a:xfrm>
          <a:prstGeom prst="rect">
            <a:avLst/>
          </a:prstGeom>
          <a:solidFill>
            <a:srgbClr val="E8F4F8"/>
          </a:solidFill>
          <a:ln w="635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274320" y="1618488"/>
            <a:ext cx="54864" cy="6217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402336" y="1746504"/>
            <a:ext cx="347472" cy="34747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402336" y="17465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2960" y="167335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B2F5E"/>
                </a:solidFill>
              </a:rPr>
              <a:t>Week 1 — Foundations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1947672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A5568"/>
                </a:solidFill>
              </a:rPr>
              <a:t>DS1 · DS2 · DS3  →  13 outputs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74320" y="2240280"/>
            <a:ext cx="4023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28090"/>
                </a:solidFill>
              </a:rPr>
              <a:t>↓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74320" y="2368296"/>
            <a:ext cx="4023360" cy="621792"/>
          </a:xfrm>
          <a:prstGeom prst="rect">
            <a:avLst/>
          </a:prstGeom>
          <a:solidFill>
            <a:srgbClr val="EEF0F8"/>
          </a:solidFill>
          <a:ln w="635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274320" y="2368296"/>
            <a:ext cx="54864" cy="621792"/>
          </a:xfrm>
          <a:prstGeom prst="rect">
            <a:avLst/>
          </a:prstGeom>
          <a:solidFill>
            <a:srgbClr val="5B6EAE"/>
          </a:solidFill>
          <a:ln w="12700">
            <a:solidFill>
              <a:srgbClr val="5B6EA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402336" y="2496312"/>
            <a:ext cx="347472" cy="347472"/>
          </a:xfrm>
          <a:prstGeom prst="ellipse">
            <a:avLst/>
          </a:prstGeom>
          <a:solidFill>
            <a:srgbClr val="5B6EAE"/>
          </a:solidFill>
          <a:ln w="12700">
            <a:solidFill>
              <a:srgbClr val="5B6EA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02336" y="24963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22960" y="242316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B2F5E"/>
                </a:solidFill>
              </a:rPr>
              <a:t>Week 2 — Modelling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22960" y="2697480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A5568"/>
                </a:solidFill>
              </a:rPr>
              <a:t>DS1 · DS2 · DS3  →  8 outputs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74320" y="2990088"/>
            <a:ext cx="4023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28090"/>
                </a:solidFill>
              </a:rPr>
              <a:t>↓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74320" y="3118104"/>
            <a:ext cx="4023360" cy="621792"/>
          </a:xfrm>
          <a:prstGeom prst="rect">
            <a:avLst/>
          </a:prstGeom>
          <a:solidFill>
            <a:srgbClr val="F5F0FF"/>
          </a:solidFill>
          <a:ln w="635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7" name="Shape 25"/>
          <p:cNvSpPr/>
          <p:nvPr/>
        </p:nvSpPr>
        <p:spPr>
          <a:xfrm>
            <a:off x="274320" y="3118104"/>
            <a:ext cx="54864" cy="621792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26"/>
          <p:cNvSpPr/>
          <p:nvPr/>
        </p:nvSpPr>
        <p:spPr>
          <a:xfrm>
            <a:off x="402336" y="3246120"/>
            <a:ext cx="347472" cy="347472"/>
          </a:xfrm>
          <a:prstGeom prst="ellipse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402336" y="32461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22960" y="3172968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B2F5E"/>
                </a:solidFill>
              </a:rPr>
              <a:t>Week 3 — Forecasting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" y="3447288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A5568"/>
                </a:solidFill>
              </a:rPr>
              <a:t>DS1 · DS2 · DS3  →  9 outputs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74320" y="3739896"/>
            <a:ext cx="4023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28090"/>
                </a:solidFill>
              </a:rPr>
              <a:t>↓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74320" y="3867912"/>
            <a:ext cx="4023360" cy="621792"/>
          </a:xfrm>
          <a:prstGeom prst="rect">
            <a:avLst/>
          </a:prstGeom>
          <a:solidFill>
            <a:srgbClr val="FFFBEB"/>
          </a:solidFill>
          <a:ln w="635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274320" y="3867912"/>
            <a:ext cx="54864" cy="6217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402336" y="3995928"/>
            <a:ext cx="347472" cy="34747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402336" y="39959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📁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22960" y="3922776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B2F5E"/>
                </a:solidFill>
              </a:rPr>
              <a:t>outputs/ folder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22960" y="4197096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A5568"/>
                </a:solidFill>
              </a:rPr>
              <a:t>All PNGs · CSVs · Excel auto-saved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480560" y="841248"/>
            <a:ext cx="4389120" cy="2971800"/>
          </a:xfrm>
          <a:prstGeom prst="rect">
            <a:avLst/>
          </a:prstGeom>
          <a:solidFill>
            <a:srgbClr val="1E293B"/>
          </a:solidFill>
          <a:ln w="1016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4480560" y="841248"/>
            <a:ext cx="4389120" cy="256032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Shape 39"/>
          <p:cNvSpPr/>
          <p:nvPr/>
        </p:nvSpPr>
        <p:spPr>
          <a:xfrm>
            <a:off x="4572000" y="905256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Shape 40"/>
          <p:cNvSpPr/>
          <p:nvPr/>
        </p:nvSpPr>
        <p:spPr>
          <a:xfrm>
            <a:off x="4727448" y="905256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3" name="Shape 41"/>
          <p:cNvSpPr/>
          <p:nvPr/>
        </p:nvSpPr>
        <p:spPr>
          <a:xfrm>
            <a:off x="4882896" y="905256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4" name="Text 42"/>
          <p:cNvSpPr/>
          <p:nvPr/>
        </p:nvSpPr>
        <p:spPr>
          <a:xfrm>
            <a:off x="4617720" y="1143000"/>
            <a:ext cx="4160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28C8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run_all.py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4617720" y="1389888"/>
            <a:ext cx="4160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4526280" y="1376172"/>
            <a:ext cx="4160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NHS Mental Health DS Pipeline - Full Run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4617720" y="1883664"/>
            <a:ext cx="4160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4581144" y="1673352"/>
            <a:ext cx="4160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--&gt; Week 1 DS-1,2,3  (statistical_baseline...)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4562857" y="1883664"/>
            <a:ext cx="4160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Done in 13.4s -&gt;  APMS2014_regional_prevalence.png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4562857" y="2121408"/>
            <a:ext cx="4160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--&gt; Week 2 DS-1,2,3  (hypothesis_testing...)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4581144" y="2314956"/>
            <a:ext cx="4160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Done in 2.0s  -&gt;  hypothesis_test_results.csv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4581144" y="2500884"/>
            <a:ext cx="4160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--&gt; Week 3 DS-1,2,3  (clustering...)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4581144" y="2729484"/>
            <a:ext cx="4160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Done in 10.6s -&gt;  cluster_analysis.png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4581144" y="2941320"/>
            <a:ext cx="4160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--&gt; Week 4 DS-1,2  (iapt_forecasting...)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4511040" y="3134868"/>
            <a:ext cx="4160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Done in 5.9s  -&gt;  forecast_3month_ahead.png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4617720" y="4105656"/>
            <a:ext cx="4160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4480560" y="3639312"/>
            <a:ext cx="100584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0" name="Shape 58"/>
          <p:cNvSpPr/>
          <p:nvPr/>
        </p:nvSpPr>
        <p:spPr>
          <a:xfrm>
            <a:off x="4503420" y="3639312"/>
            <a:ext cx="1005840" cy="54864"/>
          </a:xfrm>
          <a:prstGeom prst="rect">
            <a:avLst/>
          </a:prstGeom>
          <a:solidFill>
            <a:srgbClr val="1A7F5A"/>
          </a:solidFill>
          <a:ln w="12700">
            <a:solidFill>
              <a:srgbClr val="1A7F5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9"/>
          <p:cNvSpPr/>
          <p:nvPr/>
        </p:nvSpPr>
        <p:spPr>
          <a:xfrm>
            <a:off x="4480560" y="371246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7F5A"/>
                </a:solidFill>
              </a:rPr>
              <a:t>9/9</a:t>
            </a:r>
            <a:endParaRPr lang="en-US" sz="1800" dirty="0"/>
          </a:p>
        </p:txBody>
      </p:sp>
      <p:sp>
        <p:nvSpPr>
          <p:cNvPr id="62" name="Text 60"/>
          <p:cNvSpPr/>
          <p:nvPr/>
        </p:nvSpPr>
        <p:spPr>
          <a:xfrm>
            <a:off x="4480560" y="402336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4A5568"/>
                </a:solidFill>
              </a:rPr>
              <a:t>Scripts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4A5568"/>
                </a:solidFill>
              </a:rPr>
              <a:t>passed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5577840" y="3639312"/>
            <a:ext cx="100584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4" name="Shape 62"/>
          <p:cNvSpPr/>
          <p:nvPr/>
        </p:nvSpPr>
        <p:spPr>
          <a:xfrm>
            <a:off x="5577840" y="3639312"/>
            <a:ext cx="100584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Text 63"/>
          <p:cNvSpPr/>
          <p:nvPr/>
        </p:nvSpPr>
        <p:spPr>
          <a:xfrm>
            <a:off x="5577840" y="371246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28090"/>
                </a:solidFill>
              </a:rPr>
              <a:t>57s</a:t>
            </a:r>
            <a:endParaRPr lang="en-US" sz="1800" dirty="0"/>
          </a:p>
        </p:txBody>
      </p:sp>
      <p:sp>
        <p:nvSpPr>
          <p:cNvPr id="66" name="Text 64"/>
          <p:cNvSpPr/>
          <p:nvPr/>
        </p:nvSpPr>
        <p:spPr>
          <a:xfrm>
            <a:off x="5577840" y="402336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4A5568"/>
                </a:solidFill>
              </a:rPr>
              <a:t>Total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4A5568"/>
                </a:solidFill>
              </a:rPr>
              <a:t>runtime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6697980" y="3639312"/>
            <a:ext cx="100584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8" name="Shape 66"/>
          <p:cNvSpPr/>
          <p:nvPr/>
        </p:nvSpPr>
        <p:spPr>
          <a:xfrm>
            <a:off x="6675120" y="3639312"/>
            <a:ext cx="1005840" cy="54864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Text 67"/>
          <p:cNvSpPr/>
          <p:nvPr/>
        </p:nvSpPr>
        <p:spPr>
          <a:xfrm>
            <a:off x="6675120" y="371246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6B46C1"/>
                </a:solidFill>
              </a:rPr>
              <a:t>30+</a:t>
            </a:r>
            <a:endParaRPr lang="en-US" sz="1800" dirty="0"/>
          </a:p>
        </p:txBody>
      </p:sp>
      <p:sp>
        <p:nvSpPr>
          <p:cNvPr id="70" name="Text 68"/>
          <p:cNvSpPr/>
          <p:nvPr/>
        </p:nvSpPr>
        <p:spPr>
          <a:xfrm>
            <a:off x="6675120" y="402336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4A5568"/>
                </a:solidFill>
              </a:rPr>
              <a:t>Output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4A5568"/>
                </a:solidFill>
              </a:rPr>
              <a:t>files saved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7772400" y="3639312"/>
            <a:ext cx="100584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2" name="Shape 70"/>
          <p:cNvSpPr/>
          <p:nvPr/>
        </p:nvSpPr>
        <p:spPr>
          <a:xfrm>
            <a:off x="7772400" y="3639312"/>
            <a:ext cx="1005840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3" name="Text 71"/>
          <p:cNvSpPr/>
          <p:nvPr/>
        </p:nvSpPr>
        <p:spPr>
          <a:xfrm>
            <a:off x="7772400" y="371246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97706"/>
                </a:solidFill>
              </a:rPr>
              <a:t>100%</a:t>
            </a:r>
            <a:endParaRPr lang="en-US" sz="1800" dirty="0"/>
          </a:p>
        </p:txBody>
      </p:sp>
      <p:sp>
        <p:nvSpPr>
          <p:cNvPr id="74" name="Text 72"/>
          <p:cNvSpPr/>
          <p:nvPr/>
        </p:nvSpPr>
        <p:spPr>
          <a:xfrm>
            <a:off x="7772400" y="402336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4A5568"/>
                </a:solidFill>
              </a:rPr>
              <a:t>Reproducible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4A5568"/>
                </a:solidFill>
              </a:rPr>
              <a:t>results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0" y="4873752"/>
            <a:ext cx="9144000" cy="26517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6" name="Text 74"/>
          <p:cNvSpPr/>
          <p:nvPr/>
        </p:nvSpPr>
        <p:spPr>
          <a:xfrm>
            <a:off x="274320" y="4892040"/>
            <a:ext cx="8595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FFFFFF"/>
                </a:solidFill>
              </a:rPr>
              <a:t>▶  To reproduce all results: clone repo → place datasets/ folder → run:  python run_all.py  — outputs appear in outputs/ automatically.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4" name="Text 2"/>
          <p:cNvSpPr/>
          <p:nvPr/>
        </p:nvSpPr>
        <p:spPr>
          <a:xfrm>
            <a:off x="137160" y="12954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</a:rPr>
              <a:t>Loading Monthly NHS Mental Health Data - Auto-Detection &amp; Append Pipeline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28600" y="868680"/>
            <a:ext cx="1627632" cy="2057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228600" y="868680"/>
            <a:ext cx="1627632" cy="64008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795528" y="960120"/>
            <a:ext cx="475488" cy="475488"/>
          </a:xfrm>
          <a:prstGeom prst="ellipse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795528" y="969264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01752" y="1508760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F5E"/>
                </a:solidFill>
              </a:rPr>
              <a:t>Auto-Detect</a:t>
            </a:r>
            <a:endParaRPr lang="en-US" sz="11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F5E"/>
                </a:solidFill>
              </a:rPr>
              <a:t>Latest Month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01752" y="2011680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4A5568"/>
                </a:solidFill>
              </a:rPr>
              <a:t>Script checks today's date, tries current month → walks back until a valid NHS URL is found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828800" y="1574292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B46C1"/>
                </a:solidFill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984248" y="868680"/>
            <a:ext cx="1627632" cy="2057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1984248" y="868680"/>
            <a:ext cx="1627632" cy="6400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2551176" y="960120"/>
            <a:ext cx="475488" cy="47548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2551176" y="969264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057400" y="1508760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F5E"/>
                </a:solidFill>
              </a:rPr>
              <a:t>Download</a:t>
            </a:r>
            <a:endParaRPr lang="en-US" sz="11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F5E"/>
                </a:solidFill>
              </a:rPr>
              <a:t>ZIP from NHS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057400" y="2011680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4A5568"/>
                </a:solidFill>
              </a:rPr>
              <a:t>Fetches MHSDS ZIP from digital.nhs.uk - e.g. Feb 2026 (4.1 MB downloaded in 8s)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584448" y="1719072"/>
            <a:ext cx="155448" cy="64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8090"/>
                </a:solidFill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739896" y="868680"/>
            <a:ext cx="1627632" cy="2057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3739896" y="868680"/>
            <a:ext cx="1627632" cy="64008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4306824" y="960120"/>
            <a:ext cx="475488" cy="475488"/>
          </a:xfrm>
          <a:prstGeom prst="ellipse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306824" y="969264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813048" y="1508760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F5E"/>
                </a:solidFill>
              </a:rPr>
              <a:t>Extract &amp;</a:t>
            </a:r>
            <a:endParaRPr lang="en-US" sz="11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F5E"/>
                </a:solidFill>
              </a:rPr>
              <a:t>Load CSV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813048" y="2011680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4A5568"/>
                </a:solidFill>
              </a:rPr>
              <a:t>Extracts CSV from ZIP - loads 771,626 rows × 11 cols into pandas DataFrame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40096" y="1577340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F5E"/>
                </a:solidFill>
              </a:rPr>
              <a:t>→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495544" y="868680"/>
            <a:ext cx="1627632" cy="2057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7" name="Shape 25"/>
          <p:cNvSpPr/>
          <p:nvPr/>
        </p:nvSpPr>
        <p:spPr>
          <a:xfrm>
            <a:off x="5495544" y="868680"/>
            <a:ext cx="1627632" cy="640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26"/>
          <p:cNvSpPr/>
          <p:nvPr/>
        </p:nvSpPr>
        <p:spPr>
          <a:xfrm>
            <a:off x="6062472" y="960120"/>
            <a:ext cx="475488" cy="47548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6062472" y="969264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04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568696" y="1508760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F5E"/>
                </a:solidFill>
              </a:rPr>
              <a:t>Clean &amp;</a:t>
            </a:r>
            <a:endParaRPr lang="en-US" sz="11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F5E"/>
                </a:solidFill>
              </a:rPr>
              <a:t>Suppress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568696" y="2011680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4A5568"/>
                </a:solidFill>
              </a:rPr>
              <a:t>Removes suppressed values (619,013 flagged)  Standardises column names ·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114032" y="1641348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06"/>
                </a:solidFill>
              </a:rPr>
              <a:t>→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7251192" y="868680"/>
            <a:ext cx="1627632" cy="2057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7251192" y="868680"/>
            <a:ext cx="1627632" cy="64008"/>
          </a:xfrm>
          <a:prstGeom prst="rect">
            <a:avLst/>
          </a:prstGeom>
          <a:solidFill>
            <a:srgbClr val="1A7F5A"/>
          </a:solidFill>
          <a:ln w="12700">
            <a:solidFill>
              <a:srgbClr val="1A7F5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7818120" y="960120"/>
            <a:ext cx="475488" cy="475488"/>
          </a:xfrm>
          <a:prstGeom prst="ellipse">
            <a:avLst/>
          </a:prstGeom>
          <a:solidFill>
            <a:srgbClr val="1A7F5A"/>
          </a:solidFill>
          <a:ln w="12700">
            <a:solidFill>
              <a:srgbClr val="1A7F5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7818120" y="969264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05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324344" y="1508760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F5E"/>
                </a:solidFill>
              </a:rPr>
              <a:t>Append to</a:t>
            </a:r>
            <a:endParaRPr lang="en-US" sz="11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F5E"/>
                </a:solidFill>
              </a:rPr>
              <a:t>Master CSV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324344" y="2011680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4A5568"/>
                </a:solidFill>
              </a:rPr>
              <a:t>Appends to mhsds_master.csv  grows incrementally each month. 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228600" y="3035808"/>
            <a:ext cx="420624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228600" y="3035808"/>
            <a:ext cx="4206240" cy="292608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20040" y="3054096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</a:rPr>
              <a:t>📊  Master Dataset — February 2026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20040" y="341985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A5568"/>
                </a:solidFill>
              </a:rPr>
              <a:t>Total rows: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1508760" y="3419856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B46C1"/>
                </a:solidFill>
              </a:rPr>
              <a:t>771,626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423160" y="341985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A5568"/>
                </a:solidFill>
              </a:rPr>
              <a:t>Total columns: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3611880" y="3419856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B46C1"/>
                </a:solidFill>
              </a:rPr>
              <a:t>15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20040" y="376732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A5568"/>
                </a:solidFill>
              </a:rPr>
              <a:t>File size: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1508760" y="376732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B46C1"/>
                </a:solidFill>
              </a:rPr>
              <a:t>203.5 MB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2423160" y="376732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A5568"/>
                </a:solidFill>
              </a:rPr>
              <a:t>Unique measures: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3611880" y="376732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B46C1"/>
                </a:solidFill>
              </a:rPr>
              <a:t>378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20040" y="41148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A5568"/>
                </a:solidFill>
              </a:rPr>
              <a:t>Unique orgs: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1508760" y="411480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B46C1"/>
                </a:solidFill>
              </a:rPr>
              <a:t>1,149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2423160" y="41148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A5568"/>
                </a:solidFill>
              </a:rPr>
              <a:t>Date range: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3611880" y="411480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B46C1"/>
                </a:solidFill>
              </a:rPr>
              <a:t>Mar 2025 → Feb 2026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617720" y="3035808"/>
            <a:ext cx="4251960" cy="1737360"/>
          </a:xfrm>
          <a:prstGeom prst="rect">
            <a:avLst/>
          </a:prstGeom>
          <a:solidFill>
            <a:srgbClr val="1E293B"/>
          </a:solidFill>
          <a:ln w="1016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Shape 53"/>
          <p:cNvSpPr/>
          <p:nvPr/>
        </p:nvSpPr>
        <p:spPr>
          <a:xfrm>
            <a:off x="4617720" y="3035808"/>
            <a:ext cx="4251960" cy="256032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Shape 54"/>
          <p:cNvSpPr/>
          <p:nvPr/>
        </p:nvSpPr>
        <p:spPr>
          <a:xfrm>
            <a:off x="4709160" y="3099816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Shape 55"/>
          <p:cNvSpPr/>
          <p:nvPr/>
        </p:nvSpPr>
        <p:spPr>
          <a:xfrm>
            <a:off x="4864608" y="3099816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8" name="Shape 56"/>
          <p:cNvSpPr/>
          <p:nvPr/>
        </p:nvSpPr>
        <p:spPr>
          <a:xfrm>
            <a:off x="5020056" y="3099816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9"/>
          <p:cNvSpPr/>
          <p:nvPr/>
        </p:nvSpPr>
        <p:spPr>
          <a:xfrm>
            <a:off x="4709160" y="326898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2026-05-16 23:11:37  INFO   Trying March 2026...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4709160" y="337870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2026-05-16 23:11:37  WARN   No URL for 2026-03 — skip.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4709160" y="3557016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2026-05-16 23:11:37  INFO   Trying February 2026...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4709160" y="372770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2026-05-16 23:11:45  INFO   Downloaded 4.1 MB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4709160" y="390525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2026-05-16 23:11:46  INFO   Loaded 771,626 rows × 11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4709160" y="408736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2026-05-16 23:11:53  INFO   Appended → master 203.5 MB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4732020" y="438912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28C8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2026-05-16 23:11:53  INFO   ✅ Feb 2026 added to master!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44337A"/>
          </a:solidFill>
          <a:ln w="12700">
            <a:solidFill>
              <a:srgbClr val="44337A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69" name="Text 67"/>
          <p:cNvSpPr/>
          <p:nvPr/>
        </p:nvSpPr>
        <p:spPr>
          <a:xfrm>
            <a:off x="274320" y="4892040"/>
            <a:ext cx="8595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DDD6FE"/>
                </a:solidFill>
              </a:rPr>
              <a:t>🔄  Pipeline is incremental — run monthly to auto-detect latest NHS publication, download, clean, and append to master. No manual steps required.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F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062" y="-13062"/>
            <a:ext cx="128016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</a:rPr>
              <a:t>3 Clinical Recommendations 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74320" y="676656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A0C4D8"/>
                </a:solidFill>
              </a:rPr>
              <a:t>Derived from 9 scripts · 6 datasets · 20 outputs across 4 weeks of data science work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74320" y="1084217"/>
            <a:ext cx="8595360" cy="1024128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274320" y="1097280"/>
            <a:ext cx="502920" cy="10241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8" name="Text 6"/>
          <p:cNvSpPr/>
          <p:nvPr/>
        </p:nvSpPr>
        <p:spPr>
          <a:xfrm>
            <a:off x="274320" y="136572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96112" y="1097280"/>
            <a:ext cx="7818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</a:rPr>
              <a:t>Targeted Care Pathways -  Patient Clustering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96112" y="1425158"/>
            <a:ext cx="7818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CBD5E1"/>
                </a:solidFill>
              </a:rPr>
              <a:t>46 patients in Cluster 4 (PHQ≥17, GAD≥16, Epworth=13) need immediate Step 3/4 escalation. Embed cluster labels in clinical notes. Clusters 1 &amp; 2 (n=223) route to integrated physical-mental and sleep-aware Step 2 pathways.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2241586"/>
            <a:ext cx="8595360" cy="1024128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274320" y="2249424"/>
            <a:ext cx="502920" cy="102412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254073" y="239899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02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94153" y="2265099"/>
            <a:ext cx="7818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</a:rPr>
              <a:t>Pre-Emptive Capacity Planning :- March 2026 Surge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2558688"/>
            <a:ext cx="7818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CBD5E1"/>
                </a:solidFill>
              </a:rPr>
              <a:t>Prophet model (MAE 5,679) forecasts 152,424 IAPT referrals in March 2026 - 20% above April. Pre-commission bank clinician hours and extended evening sessions in Q1 2026. Review rotas by end of November 2025.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4320" y="3390467"/>
            <a:ext cx="8595360" cy="1024128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274320" y="3398305"/>
            <a:ext cx="502920" cy="102412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274320" y="3886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03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94153" y="3445981"/>
            <a:ext cx="7818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</a:rPr>
              <a:t>Equity-Led Resource Reallocation - 7 ICBs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96112" y="3766021"/>
            <a:ext cx="7818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chemeClr val="bg1"/>
                </a:solidFill>
              </a:rPr>
              <a:t>Greater Manchester (unmet score 74.4) and Black Country (73.4) are the most under-resourced. Redirect NHS Talking Therapies development funding immediately. Add Step 2 online CBT capacity across all 7 flagged ICBs.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2396</TotalTime>
  <Words>2473</Words>
  <Application>Microsoft Office PowerPoint</Application>
  <PresentationFormat>On-screen Show (16:9)</PresentationFormat>
  <Paragraphs>496</Paragraphs>
  <Slides>22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Courier New</vt:lpstr>
      <vt:lpstr>Gill Sans MT</vt:lpstr>
      <vt:lpstr>Gallery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Mental Health DS Pipeline — 20-Slide Demo</dc:title>
  <dc:subject>PptxGenJS Presentation</dc:subject>
  <dc:creator>PptxGenJS</dc:creator>
  <cp:lastModifiedBy>Gopani Rushay  Gauravbhai</cp:lastModifiedBy>
  <cp:revision>15</cp:revision>
  <dcterms:created xsi:type="dcterms:W3CDTF">2026-05-20T13:09:09Z</dcterms:created>
  <dcterms:modified xsi:type="dcterms:W3CDTF">2026-05-25T08:53:40Z</dcterms:modified>
</cp:coreProperties>
</file>